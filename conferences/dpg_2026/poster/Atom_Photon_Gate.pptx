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60" r:id="rId1"/>
  </p:sldMasterIdLst>
  <p:notesMasterIdLst>
    <p:notesMasterId r:id="rId3"/>
  </p:notesMasterIdLst>
  <p:sldIdLst>
    <p:sldId id="256" r:id="rId2"/>
  </p:sldIdLst>
  <p:sldSz cx="30275213" cy="42803763"/>
  <p:notesSz cx="6858000" cy="9144000"/>
  <p:embeddedFontLst>
    <p:embeddedFont>
      <p:font typeface="Cambria Math" panose="02040503050406030204" pitchFamily="18" charset="0"/>
      <p:regular r:id="rId4"/>
    </p:embeddedFont>
    <p:embeddedFont>
      <p:font typeface="Roboto" panose="02000000000000000000" pitchFamily="2" charset="0"/>
      <p:regular r:id="rId5"/>
      <p:bold r:id="rId6"/>
      <p:italic r:id="rId7"/>
      <p:boldItalic r:id="rId8"/>
    </p:embeddedFont>
    <p:embeddedFont>
      <p:font typeface="Roboto Light" panose="02000000000000000000" pitchFamily="2" charset="0"/>
      <p:regular r:id="rId9"/>
      <p:italic r:id="rId10"/>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aya" initials="M" lastIdx="12" clrIdx="0">
    <p:extLst>
      <p:ext uri="{19B8F6BF-5375-455C-9EA6-DF929625EA0E}">
        <p15:presenceInfo xmlns:p15="http://schemas.microsoft.com/office/powerpoint/2012/main" userId="df5365e7f1a57c85"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400D3"/>
    <a:srgbClr val="FF0000"/>
    <a:srgbClr val="D54233"/>
    <a:srgbClr val="FFE100"/>
    <a:srgbClr val="233F4D"/>
    <a:srgbClr val="2F854C"/>
    <a:srgbClr val="007E74"/>
    <a:srgbClr val="FCE104"/>
    <a:srgbClr val="0A9CB2"/>
    <a:srgbClr val="FC72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7AC3CCA-C797-4891-BE02-D94E43425B78}" styleName="Mittlere Formatvorlag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106" autoAdjust="0"/>
    <p:restoredTop sz="96327"/>
  </p:normalViewPr>
  <p:slideViewPr>
    <p:cSldViewPr snapToGrid="0">
      <p:cViewPr>
        <p:scale>
          <a:sx n="33" d="100"/>
          <a:sy n="33" d="100"/>
        </p:scale>
        <p:origin x="2208" y="-16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font" Target="fonts/font5.fntdata"/><Relationship Id="rId13" Type="http://schemas.openxmlformats.org/officeDocument/2006/relationships/viewProps" Target="viewProps.xml"/><Relationship Id="rId3" Type="http://schemas.openxmlformats.org/officeDocument/2006/relationships/notesMaster" Target="notesMasters/notesMaster1.xml"/><Relationship Id="rId7" Type="http://schemas.openxmlformats.org/officeDocument/2006/relationships/font" Target="fonts/font4.fntdata"/><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3.fntdata"/><Relationship Id="rId11" Type="http://schemas.openxmlformats.org/officeDocument/2006/relationships/commentAuthors" Target="commentAuthors.xml"/><Relationship Id="rId5" Type="http://schemas.openxmlformats.org/officeDocument/2006/relationships/font" Target="fonts/font2.fntdata"/><Relationship Id="rId15" Type="http://schemas.openxmlformats.org/officeDocument/2006/relationships/tableStyles" Target="tableStyles.xml"/><Relationship Id="rId10" Type="http://schemas.openxmlformats.org/officeDocument/2006/relationships/font" Target="fonts/font7.fntdata"/><Relationship Id="rId4" Type="http://schemas.openxmlformats.org/officeDocument/2006/relationships/font" Target="fonts/font1.fntdata"/><Relationship Id="rId9" Type="http://schemas.openxmlformats.org/officeDocument/2006/relationships/font" Target="fonts/font6.fntdata"/><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AF5E7F9-F4B0-AF40-8559-8BF06106EC41}" type="datetimeFigureOut">
              <a:rPr lang="de-DE" smtClean="0"/>
              <a:t>27.02.2026</a:t>
            </a:fld>
            <a:endParaRPr lang="de-DE"/>
          </a:p>
        </p:txBody>
      </p:sp>
      <p:sp>
        <p:nvSpPr>
          <p:cNvPr id="4" name="Folienbildplatzhalter 3"/>
          <p:cNvSpPr>
            <a:spLocks noGrp="1" noRot="1" noChangeAspect="1"/>
          </p:cNvSpPr>
          <p:nvPr>
            <p:ph type="sldImg" idx="2"/>
          </p:nvPr>
        </p:nvSpPr>
        <p:spPr>
          <a:xfrm>
            <a:off x="2338388" y="1143000"/>
            <a:ext cx="2181225"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3D5FBEA-33F8-2042-AE66-41A07F538ACD}" type="slidenum">
              <a:rPr lang="de-DE" smtClean="0"/>
              <a:t>‹#›</a:t>
            </a:fld>
            <a:endParaRPr lang="de-DE"/>
          </a:p>
        </p:txBody>
      </p:sp>
    </p:spTree>
    <p:extLst>
      <p:ext uri="{BB962C8B-B14F-4D97-AF65-F5344CB8AC3E}">
        <p14:creationId xmlns:p14="http://schemas.microsoft.com/office/powerpoint/2010/main" val="33185514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le 1"/>
          <p:cNvSpPr>
            <a:spLocks noGrp="1"/>
          </p:cNvSpPr>
          <p:nvPr>
            <p:ph type="ctrTitle"/>
          </p:nvPr>
        </p:nvSpPr>
        <p:spPr>
          <a:xfrm>
            <a:off x="2270641" y="7005156"/>
            <a:ext cx="25733931" cy="14902051"/>
          </a:xfrm>
          <a:prstGeom prst="rect">
            <a:avLst/>
          </a:prstGeom>
        </p:spPr>
        <p:txBody>
          <a:bodyPr anchor="b">
            <a:normAutofit/>
          </a:bodyPr>
          <a:lstStyle>
            <a:lvl1pPr algn="ctr">
              <a:defRPr sz="16000" b="0" i="0" spc="100" baseline="0">
                <a:latin typeface="Roboto Light" panose="02000000000000000000" pitchFamily="2" charset="0"/>
                <a:ea typeface="Roboto Light" panose="02000000000000000000" pitchFamily="2" charset="0"/>
                <a:cs typeface="Roboto Light" panose="02000000000000000000" pitchFamily="2" charset="0"/>
              </a:defRPr>
            </a:lvl1pPr>
          </a:lstStyle>
          <a:p>
            <a:r>
              <a:rPr lang="de-DE" dirty="0"/>
              <a:t>Mastertitelformat bearbeiten</a:t>
            </a:r>
            <a:endParaRPr lang="en-US" dirty="0"/>
          </a:p>
        </p:txBody>
      </p:sp>
      <p:sp>
        <p:nvSpPr>
          <p:cNvPr id="3" name="Subtitle 2"/>
          <p:cNvSpPr>
            <a:spLocks noGrp="1"/>
          </p:cNvSpPr>
          <p:nvPr>
            <p:ph type="subTitle" idx="1"/>
          </p:nvPr>
        </p:nvSpPr>
        <p:spPr>
          <a:xfrm>
            <a:off x="3784402" y="22481887"/>
            <a:ext cx="22706410" cy="10334331"/>
          </a:xfrm>
          <a:prstGeom prst="rect">
            <a:avLst/>
          </a:prstGeom>
        </p:spPr>
        <p:txBody>
          <a:bodyPr>
            <a:normAutofit/>
          </a:bodyPr>
          <a:lstStyle>
            <a:lvl1pPr marL="0" indent="0" algn="ctr">
              <a:buNone/>
              <a:defRPr sz="6600"/>
            </a:lvl1pPr>
            <a:lvl2pPr marL="1513743" indent="0" algn="ctr">
              <a:buNone/>
              <a:defRPr sz="6622"/>
            </a:lvl2pPr>
            <a:lvl3pPr marL="3027487" indent="0" algn="ctr">
              <a:buNone/>
              <a:defRPr sz="5960"/>
            </a:lvl3pPr>
            <a:lvl4pPr marL="4541230" indent="0" algn="ctr">
              <a:buNone/>
              <a:defRPr sz="5297"/>
            </a:lvl4pPr>
            <a:lvl5pPr marL="6054974" indent="0" algn="ctr">
              <a:buNone/>
              <a:defRPr sz="5297"/>
            </a:lvl5pPr>
            <a:lvl6pPr marL="7568717" indent="0" algn="ctr">
              <a:buNone/>
              <a:defRPr sz="5297"/>
            </a:lvl6pPr>
            <a:lvl7pPr marL="9082461" indent="0" algn="ctr">
              <a:buNone/>
              <a:defRPr sz="5297"/>
            </a:lvl7pPr>
            <a:lvl8pPr marL="10596204" indent="0" algn="ctr">
              <a:buNone/>
              <a:defRPr sz="5297"/>
            </a:lvl8pPr>
            <a:lvl9pPr marL="12109948" indent="0" algn="ctr">
              <a:buNone/>
              <a:defRPr sz="5297"/>
            </a:lvl9pPr>
          </a:lstStyle>
          <a:p>
            <a:r>
              <a:rPr lang="de-DE" dirty="0"/>
              <a:t>Master-Untertitelformat bearbeiten</a:t>
            </a:r>
            <a:endParaRPr lang="en-US" dirty="0"/>
          </a:p>
        </p:txBody>
      </p:sp>
      <p:sp>
        <p:nvSpPr>
          <p:cNvPr id="4" name="Date Placeholder 3"/>
          <p:cNvSpPr>
            <a:spLocks noGrp="1"/>
          </p:cNvSpPr>
          <p:nvPr>
            <p:ph type="dt" sz="half" idx="10"/>
          </p:nvPr>
        </p:nvSpPr>
        <p:spPr/>
        <p:txBody>
          <a:bodyPr/>
          <a:lstStyle/>
          <a:p>
            <a:fld id="{C8993DD2-BB1A-0747-9B0A-753D2C2B04FF}" type="datetimeFigureOut">
              <a:rPr lang="de-DE" smtClean="0"/>
              <a:t>27.02.2026</a:t>
            </a:fld>
            <a:endParaRPr lang="de-DE"/>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p:txBody>
          <a:bodyPr/>
          <a:lstStyle/>
          <a:p>
            <a:fld id="{63466F88-6B06-D547-8AB3-A3723C40D3DA}" type="slidenum">
              <a:rPr lang="de-DE" smtClean="0"/>
              <a:t>‹#›</a:t>
            </a:fld>
            <a:endParaRPr lang="de-DE"/>
          </a:p>
        </p:txBody>
      </p:sp>
    </p:spTree>
    <p:extLst>
      <p:ext uri="{BB962C8B-B14F-4D97-AF65-F5344CB8AC3E}">
        <p14:creationId xmlns:p14="http://schemas.microsoft.com/office/powerpoint/2010/main" val="30994601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2065654" y="10671229"/>
            <a:ext cx="26112371" cy="17805173"/>
          </a:xfrm>
          <a:prstGeom prst="rect">
            <a:avLst/>
          </a:prstGeom>
        </p:spPr>
        <p:txBody>
          <a:bodyPr anchor="b">
            <a:normAutofit/>
          </a:bodyPr>
          <a:lstStyle>
            <a:lvl1pPr>
              <a:defRPr sz="20000" b="0" i="0">
                <a:latin typeface="Roboto Light" panose="02000000000000000000" pitchFamily="2" charset="0"/>
                <a:ea typeface="Roboto Light" panose="02000000000000000000" pitchFamily="2" charset="0"/>
                <a:cs typeface="Roboto Light" panose="02000000000000000000" pitchFamily="2" charset="0"/>
              </a:defRPr>
            </a:lvl1pPr>
          </a:lstStyle>
          <a:p>
            <a:r>
              <a:rPr lang="de-DE" dirty="0"/>
              <a:t>Mastertitelformat bearbeiten</a:t>
            </a:r>
            <a:endParaRPr lang="en-US" dirty="0"/>
          </a:p>
        </p:txBody>
      </p:sp>
      <p:sp>
        <p:nvSpPr>
          <p:cNvPr id="3" name="Text Placeholder 2"/>
          <p:cNvSpPr>
            <a:spLocks noGrp="1"/>
          </p:cNvSpPr>
          <p:nvPr>
            <p:ph type="body" idx="1"/>
          </p:nvPr>
        </p:nvSpPr>
        <p:spPr>
          <a:xfrm>
            <a:off x="2065654" y="29260800"/>
            <a:ext cx="26112371" cy="8747366"/>
          </a:xfrm>
          <a:prstGeom prst="rect">
            <a:avLst/>
          </a:prstGeom>
        </p:spPr>
        <p:txBody>
          <a:bodyPr/>
          <a:lstStyle>
            <a:lvl1pPr marL="0" indent="0">
              <a:buNone/>
              <a:defRPr sz="7946">
                <a:solidFill>
                  <a:schemeClr val="tx1"/>
                </a:solidFill>
              </a:defRPr>
            </a:lvl1pPr>
            <a:lvl2pPr marL="1513743" indent="0">
              <a:buNone/>
              <a:defRPr sz="6622">
                <a:solidFill>
                  <a:schemeClr val="tx1">
                    <a:tint val="75000"/>
                  </a:schemeClr>
                </a:solidFill>
              </a:defRPr>
            </a:lvl2pPr>
            <a:lvl3pPr marL="3027487" indent="0">
              <a:buNone/>
              <a:defRPr sz="5960">
                <a:solidFill>
                  <a:schemeClr val="tx1">
                    <a:tint val="75000"/>
                  </a:schemeClr>
                </a:solidFill>
              </a:defRPr>
            </a:lvl3pPr>
            <a:lvl4pPr marL="4541230" indent="0">
              <a:buNone/>
              <a:defRPr sz="5297">
                <a:solidFill>
                  <a:schemeClr val="tx1">
                    <a:tint val="75000"/>
                  </a:schemeClr>
                </a:solidFill>
              </a:defRPr>
            </a:lvl4pPr>
            <a:lvl5pPr marL="6054974" indent="0">
              <a:buNone/>
              <a:defRPr sz="5297">
                <a:solidFill>
                  <a:schemeClr val="tx1">
                    <a:tint val="75000"/>
                  </a:schemeClr>
                </a:solidFill>
              </a:defRPr>
            </a:lvl5pPr>
            <a:lvl6pPr marL="7568717" indent="0">
              <a:buNone/>
              <a:defRPr sz="5297">
                <a:solidFill>
                  <a:schemeClr val="tx1">
                    <a:tint val="75000"/>
                  </a:schemeClr>
                </a:solidFill>
              </a:defRPr>
            </a:lvl6pPr>
            <a:lvl7pPr marL="9082461" indent="0">
              <a:buNone/>
              <a:defRPr sz="5297">
                <a:solidFill>
                  <a:schemeClr val="tx1">
                    <a:tint val="75000"/>
                  </a:schemeClr>
                </a:solidFill>
              </a:defRPr>
            </a:lvl7pPr>
            <a:lvl8pPr marL="10596204" indent="0">
              <a:buNone/>
              <a:defRPr sz="5297">
                <a:solidFill>
                  <a:schemeClr val="tx1">
                    <a:tint val="75000"/>
                  </a:schemeClr>
                </a:solidFill>
              </a:defRPr>
            </a:lvl8pPr>
            <a:lvl9pPr marL="12109948" indent="0">
              <a:buNone/>
              <a:defRPr sz="5297">
                <a:solidFill>
                  <a:schemeClr val="tx1">
                    <a:tint val="75000"/>
                  </a:schemeClr>
                </a:solidFill>
              </a:defRPr>
            </a:lvl9pPr>
          </a:lstStyle>
          <a:p>
            <a:pPr lvl="0"/>
            <a:r>
              <a:rPr lang="de-DE" dirty="0"/>
              <a:t>Mastertextformat bearbeiten</a:t>
            </a:r>
          </a:p>
        </p:txBody>
      </p:sp>
      <p:sp>
        <p:nvSpPr>
          <p:cNvPr id="4" name="Date Placeholder 3"/>
          <p:cNvSpPr>
            <a:spLocks noGrp="1"/>
          </p:cNvSpPr>
          <p:nvPr>
            <p:ph type="dt" sz="half" idx="10"/>
          </p:nvPr>
        </p:nvSpPr>
        <p:spPr/>
        <p:txBody>
          <a:bodyPr/>
          <a:lstStyle/>
          <a:p>
            <a:fld id="{C8993DD2-BB1A-0747-9B0A-753D2C2B04FF}" type="datetimeFigureOut">
              <a:rPr lang="de-DE" smtClean="0"/>
              <a:t>27.02.2026</a:t>
            </a:fld>
            <a:endParaRPr lang="de-DE"/>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p:txBody>
          <a:bodyPr/>
          <a:lstStyle/>
          <a:p>
            <a:fld id="{63466F88-6B06-D547-8AB3-A3723C40D3DA}" type="slidenum">
              <a:rPr lang="de-DE" smtClean="0"/>
              <a:t>‹#›</a:t>
            </a:fld>
            <a:endParaRPr lang="de-DE"/>
          </a:p>
        </p:txBody>
      </p:sp>
    </p:spTree>
    <p:extLst>
      <p:ext uri="{BB962C8B-B14F-4D97-AF65-F5344CB8AC3E}">
        <p14:creationId xmlns:p14="http://schemas.microsoft.com/office/powerpoint/2010/main" val="22934859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8993DD2-BB1A-0747-9B0A-753D2C2B04FF}" type="datetimeFigureOut">
              <a:rPr lang="de-DE" smtClean="0"/>
              <a:t>27.02.2026</a:t>
            </a:fld>
            <a:endParaRPr lang="de-DE"/>
          </a:p>
        </p:txBody>
      </p:sp>
      <p:sp>
        <p:nvSpPr>
          <p:cNvPr id="3" name="Footer Placeholder 2"/>
          <p:cNvSpPr>
            <a:spLocks noGrp="1"/>
          </p:cNvSpPr>
          <p:nvPr>
            <p:ph type="ftr" sz="quarter" idx="11"/>
          </p:nvPr>
        </p:nvSpPr>
        <p:spPr/>
        <p:txBody>
          <a:bodyPr/>
          <a:lstStyle/>
          <a:p>
            <a:endParaRPr lang="de-DE"/>
          </a:p>
        </p:txBody>
      </p:sp>
      <p:sp>
        <p:nvSpPr>
          <p:cNvPr id="4" name="Slide Number Placeholder 3"/>
          <p:cNvSpPr>
            <a:spLocks noGrp="1"/>
          </p:cNvSpPr>
          <p:nvPr>
            <p:ph type="sldNum" sz="quarter" idx="12"/>
          </p:nvPr>
        </p:nvSpPr>
        <p:spPr/>
        <p:txBody>
          <a:bodyPr/>
          <a:lstStyle/>
          <a:p>
            <a:fld id="{63466F88-6B06-D547-8AB3-A3723C40D3DA}" type="slidenum">
              <a:rPr lang="de-DE" smtClean="0"/>
              <a:t>‹#›</a:t>
            </a:fld>
            <a:endParaRPr lang="de-DE"/>
          </a:p>
        </p:txBody>
      </p:sp>
    </p:spTree>
    <p:extLst>
      <p:ext uri="{BB962C8B-B14F-4D97-AF65-F5344CB8AC3E}">
        <p14:creationId xmlns:p14="http://schemas.microsoft.com/office/powerpoint/2010/main" val="315233226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5">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081422" y="1"/>
            <a:ext cx="19300448" cy="3860800"/>
          </a:xfrm>
          <a:prstGeom prst="rect">
            <a:avLst/>
          </a:prstGeom>
        </p:spPr>
        <p:txBody>
          <a:bodyPr vert="horz" lIns="91440" tIns="45720" rIns="91440" bIns="45720" rtlCol="0" anchor="b" anchorCtr="0">
            <a:normAutofit/>
          </a:bodyPr>
          <a:lstStyle/>
          <a:p>
            <a:r>
              <a:rPr lang="de-DE"/>
              <a:t>Mastertitelformat bearbeiten</a:t>
            </a:r>
            <a:endParaRPr lang="en-US" dirty="0"/>
          </a:p>
        </p:txBody>
      </p:sp>
      <p:sp>
        <p:nvSpPr>
          <p:cNvPr id="3" name="Text Placeholder 2"/>
          <p:cNvSpPr>
            <a:spLocks noGrp="1"/>
          </p:cNvSpPr>
          <p:nvPr>
            <p:ph type="body" idx="1"/>
          </p:nvPr>
        </p:nvSpPr>
        <p:spPr>
          <a:xfrm>
            <a:off x="2081421" y="5486400"/>
            <a:ext cx="26112371" cy="33066714"/>
          </a:xfrm>
          <a:prstGeom prst="rect">
            <a:avLst/>
          </a:prstGeom>
        </p:spPr>
        <p:txBody>
          <a:bodyPr vert="horz" lIns="91440" tIns="45720" rIns="91440" bIns="45720" rtlCol="0">
            <a:norm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en-US" dirty="0"/>
          </a:p>
        </p:txBody>
      </p:sp>
      <p:sp>
        <p:nvSpPr>
          <p:cNvPr id="4" name="Date Placeholder 3"/>
          <p:cNvSpPr>
            <a:spLocks noGrp="1"/>
          </p:cNvSpPr>
          <p:nvPr>
            <p:ph type="dt" sz="half" idx="2"/>
          </p:nvPr>
        </p:nvSpPr>
        <p:spPr>
          <a:xfrm>
            <a:off x="2081421" y="41305329"/>
            <a:ext cx="6811923" cy="646331"/>
          </a:xfrm>
          <a:prstGeom prst="rect">
            <a:avLst/>
          </a:prstGeom>
        </p:spPr>
        <p:txBody>
          <a:bodyPr vert="horz" lIns="91440" tIns="45720" rIns="91440" bIns="45720" rtlCol="0" anchor="b" anchorCtr="0">
            <a:spAutoFit/>
          </a:bodyPr>
          <a:lstStyle>
            <a:lvl1pPr algn="l">
              <a:defRPr sz="3600">
                <a:solidFill>
                  <a:srgbClr val="233F4D"/>
                </a:solidFill>
                <a:latin typeface="Roboto" panose="02000000000000000000" pitchFamily="2" charset="0"/>
                <a:ea typeface="Roboto" panose="02000000000000000000" pitchFamily="2" charset="0"/>
                <a:cs typeface="Roboto" panose="02000000000000000000" pitchFamily="2" charset="0"/>
              </a:defRPr>
            </a:lvl1pPr>
          </a:lstStyle>
          <a:p>
            <a:fld id="{C8993DD2-BB1A-0747-9B0A-753D2C2B04FF}" type="datetimeFigureOut">
              <a:rPr lang="de-DE" smtClean="0"/>
              <a:pPr/>
              <a:t>27.02.2026</a:t>
            </a:fld>
            <a:endParaRPr lang="de-DE" dirty="0"/>
          </a:p>
        </p:txBody>
      </p:sp>
      <p:sp>
        <p:nvSpPr>
          <p:cNvPr id="5" name="Footer Placeholder 4"/>
          <p:cNvSpPr>
            <a:spLocks noGrp="1"/>
          </p:cNvSpPr>
          <p:nvPr>
            <p:ph type="ftr" sz="quarter" idx="3"/>
          </p:nvPr>
        </p:nvSpPr>
        <p:spPr>
          <a:xfrm>
            <a:off x="10028665" y="41305329"/>
            <a:ext cx="10217884" cy="646331"/>
          </a:xfrm>
          <a:prstGeom prst="rect">
            <a:avLst/>
          </a:prstGeom>
        </p:spPr>
        <p:txBody>
          <a:bodyPr vert="horz" lIns="91440" tIns="45720" rIns="91440" bIns="45720" rtlCol="0" anchor="b" anchorCtr="0">
            <a:spAutoFit/>
          </a:bodyPr>
          <a:lstStyle>
            <a:lvl1pPr algn="ctr">
              <a:defRPr sz="3600">
                <a:solidFill>
                  <a:srgbClr val="233F4D"/>
                </a:solidFill>
                <a:latin typeface="Roboto" panose="02000000000000000000" pitchFamily="2" charset="0"/>
                <a:ea typeface="Roboto" panose="02000000000000000000" pitchFamily="2" charset="0"/>
                <a:cs typeface="Roboto" panose="02000000000000000000" pitchFamily="2" charset="0"/>
              </a:defRPr>
            </a:lvl1pPr>
          </a:lstStyle>
          <a:p>
            <a:endParaRPr lang="de-DE"/>
          </a:p>
        </p:txBody>
      </p:sp>
      <p:sp>
        <p:nvSpPr>
          <p:cNvPr id="6" name="Slide Number Placeholder 5"/>
          <p:cNvSpPr>
            <a:spLocks noGrp="1"/>
          </p:cNvSpPr>
          <p:nvPr>
            <p:ph type="sldNum" sz="quarter" idx="4"/>
          </p:nvPr>
        </p:nvSpPr>
        <p:spPr>
          <a:xfrm>
            <a:off x="21381869" y="41305329"/>
            <a:ext cx="6811923" cy="646331"/>
          </a:xfrm>
          <a:prstGeom prst="rect">
            <a:avLst/>
          </a:prstGeom>
        </p:spPr>
        <p:txBody>
          <a:bodyPr vert="horz" lIns="91440" tIns="45720" rIns="91440" bIns="45720" rtlCol="0" anchor="b" anchorCtr="0">
            <a:spAutoFit/>
          </a:bodyPr>
          <a:lstStyle>
            <a:lvl1pPr algn="r">
              <a:defRPr sz="3600">
                <a:solidFill>
                  <a:srgbClr val="233F4D"/>
                </a:solidFill>
                <a:latin typeface="Roboto" panose="02000000000000000000" pitchFamily="2" charset="0"/>
                <a:ea typeface="Roboto" panose="02000000000000000000" pitchFamily="2" charset="0"/>
                <a:cs typeface="Roboto" panose="02000000000000000000" pitchFamily="2" charset="0"/>
              </a:defRPr>
            </a:lvl1pPr>
          </a:lstStyle>
          <a:p>
            <a:fld id="{63466F88-6B06-D547-8AB3-A3723C40D3DA}" type="slidenum">
              <a:rPr lang="de-DE" smtClean="0"/>
              <a:pPr/>
              <a:t>‹#›</a:t>
            </a:fld>
            <a:endParaRPr lang="de-DE"/>
          </a:p>
        </p:txBody>
      </p:sp>
    </p:spTree>
    <p:extLst>
      <p:ext uri="{BB962C8B-B14F-4D97-AF65-F5344CB8AC3E}">
        <p14:creationId xmlns:p14="http://schemas.microsoft.com/office/powerpoint/2010/main" val="3606606231"/>
      </p:ext>
    </p:extLst>
  </p:cSld>
  <p:clrMap bg1="lt1" tx1="dk1" bg2="lt2" tx2="dk2" accent1="accent1" accent2="accent2" accent3="accent3" accent4="accent4" accent5="accent5" accent6="accent6" hlink="hlink" folHlink="folHlink"/>
  <p:sldLayoutIdLst>
    <p:sldLayoutId id="2147483661" r:id="rId1"/>
    <p:sldLayoutId id="2147483663" r:id="rId2"/>
    <p:sldLayoutId id="2147483667" r:id="rId3"/>
  </p:sldLayoutIdLst>
  <p:txStyles>
    <p:titleStyle>
      <a:lvl1pPr algn="l" defTabSz="3027487" rtl="0" eaLnBrk="1" latinLnBrk="0" hangingPunct="1">
        <a:lnSpc>
          <a:spcPct val="90000"/>
        </a:lnSpc>
        <a:spcBef>
          <a:spcPct val="0"/>
        </a:spcBef>
        <a:buNone/>
        <a:defRPr sz="7200" kern="1200">
          <a:solidFill>
            <a:schemeClr val="tx1"/>
          </a:solidFill>
          <a:latin typeface="+mj-lt"/>
          <a:ea typeface="+mj-ea"/>
          <a:cs typeface="+mj-cs"/>
        </a:defRPr>
      </a:lvl1pPr>
    </p:titleStyle>
    <p:bodyStyle>
      <a:lvl1pPr marL="756872" indent="-756872" algn="l" defTabSz="3027487" rtl="0" eaLnBrk="1" latinLnBrk="0" hangingPunct="1">
        <a:lnSpc>
          <a:spcPct val="90000"/>
        </a:lnSpc>
        <a:spcBef>
          <a:spcPts val="3311"/>
        </a:spcBef>
        <a:buFont typeface="Arial" panose="020B0604020202020204" pitchFamily="34" charset="0"/>
        <a:buChar char="•"/>
        <a:defRPr sz="4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2270615" indent="-756872" algn="l" defTabSz="3027487" rtl="0" eaLnBrk="1" latinLnBrk="0" hangingPunct="1">
        <a:lnSpc>
          <a:spcPct val="90000"/>
        </a:lnSpc>
        <a:spcBef>
          <a:spcPts val="1655"/>
        </a:spcBef>
        <a:buFont typeface="Arial" panose="020B0604020202020204" pitchFamily="34" charset="0"/>
        <a:buChar char="•"/>
        <a:defRPr sz="48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3784359" indent="-756872" algn="l" defTabSz="3027487" rtl="0" eaLnBrk="1" latinLnBrk="0" hangingPunct="1">
        <a:lnSpc>
          <a:spcPct val="90000"/>
        </a:lnSpc>
        <a:spcBef>
          <a:spcPts val="1655"/>
        </a:spcBef>
        <a:buFont typeface="Arial" panose="020B0604020202020204" pitchFamily="34" charset="0"/>
        <a:buChar char="•"/>
        <a:defRPr sz="48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5298102" indent="-756872" algn="l" defTabSz="3027487" rtl="0" eaLnBrk="1" latinLnBrk="0" hangingPunct="1">
        <a:lnSpc>
          <a:spcPct val="90000"/>
        </a:lnSpc>
        <a:spcBef>
          <a:spcPts val="1655"/>
        </a:spcBef>
        <a:buFont typeface="Arial" panose="020B0604020202020204" pitchFamily="34" charset="0"/>
        <a:buChar char="•"/>
        <a:defRPr sz="4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6811846" indent="-756872" algn="l" defTabSz="3027487" rtl="0" eaLnBrk="1" latinLnBrk="0" hangingPunct="1">
        <a:lnSpc>
          <a:spcPct val="90000"/>
        </a:lnSpc>
        <a:spcBef>
          <a:spcPts val="1655"/>
        </a:spcBef>
        <a:buFont typeface="Arial" panose="020B0604020202020204" pitchFamily="34" charset="0"/>
        <a:buChar char="•"/>
        <a:defRPr sz="4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8325589"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6pPr>
      <a:lvl7pPr marL="9839333"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7pPr>
      <a:lvl8pPr marL="11353076"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8pPr>
      <a:lvl9pPr marL="12866820"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9pPr>
    </p:bodyStyle>
    <p:otherStyle>
      <a:defPPr>
        <a:defRPr lang="en-US"/>
      </a:defPPr>
      <a:lvl1pPr marL="0" algn="l" defTabSz="3027487" rtl="0" eaLnBrk="1" latinLnBrk="0" hangingPunct="1">
        <a:defRPr sz="5960" kern="1200">
          <a:solidFill>
            <a:schemeClr val="tx1"/>
          </a:solidFill>
          <a:latin typeface="+mn-lt"/>
          <a:ea typeface="+mn-ea"/>
          <a:cs typeface="+mn-cs"/>
        </a:defRPr>
      </a:lvl1pPr>
      <a:lvl2pPr marL="1513743" algn="l" defTabSz="3027487" rtl="0" eaLnBrk="1" latinLnBrk="0" hangingPunct="1">
        <a:defRPr sz="5960" kern="1200">
          <a:solidFill>
            <a:schemeClr val="tx1"/>
          </a:solidFill>
          <a:latin typeface="+mn-lt"/>
          <a:ea typeface="+mn-ea"/>
          <a:cs typeface="+mn-cs"/>
        </a:defRPr>
      </a:lvl2pPr>
      <a:lvl3pPr marL="3027487" algn="l" defTabSz="3027487" rtl="0" eaLnBrk="1" latinLnBrk="0" hangingPunct="1">
        <a:defRPr sz="5960" kern="1200">
          <a:solidFill>
            <a:schemeClr val="tx1"/>
          </a:solidFill>
          <a:latin typeface="+mn-lt"/>
          <a:ea typeface="+mn-ea"/>
          <a:cs typeface="+mn-cs"/>
        </a:defRPr>
      </a:lvl3pPr>
      <a:lvl4pPr marL="4541230" algn="l" defTabSz="3027487" rtl="0" eaLnBrk="1" latinLnBrk="0" hangingPunct="1">
        <a:defRPr sz="5960" kern="1200">
          <a:solidFill>
            <a:schemeClr val="tx1"/>
          </a:solidFill>
          <a:latin typeface="+mn-lt"/>
          <a:ea typeface="+mn-ea"/>
          <a:cs typeface="+mn-cs"/>
        </a:defRPr>
      </a:lvl4pPr>
      <a:lvl5pPr marL="6054974" algn="l" defTabSz="3027487" rtl="0" eaLnBrk="1" latinLnBrk="0" hangingPunct="1">
        <a:defRPr sz="5960" kern="1200">
          <a:solidFill>
            <a:schemeClr val="tx1"/>
          </a:solidFill>
          <a:latin typeface="+mn-lt"/>
          <a:ea typeface="+mn-ea"/>
          <a:cs typeface="+mn-cs"/>
        </a:defRPr>
      </a:lvl5pPr>
      <a:lvl6pPr marL="7568717" algn="l" defTabSz="3027487" rtl="0" eaLnBrk="1" latinLnBrk="0" hangingPunct="1">
        <a:defRPr sz="5960" kern="1200">
          <a:solidFill>
            <a:schemeClr val="tx1"/>
          </a:solidFill>
          <a:latin typeface="+mn-lt"/>
          <a:ea typeface="+mn-ea"/>
          <a:cs typeface="+mn-cs"/>
        </a:defRPr>
      </a:lvl6pPr>
      <a:lvl7pPr marL="9082461" algn="l" defTabSz="3027487" rtl="0" eaLnBrk="1" latinLnBrk="0" hangingPunct="1">
        <a:defRPr sz="5960" kern="1200">
          <a:solidFill>
            <a:schemeClr val="tx1"/>
          </a:solidFill>
          <a:latin typeface="+mn-lt"/>
          <a:ea typeface="+mn-ea"/>
          <a:cs typeface="+mn-cs"/>
        </a:defRPr>
      </a:lvl7pPr>
      <a:lvl8pPr marL="10596204" algn="l" defTabSz="3027487" rtl="0" eaLnBrk="1" latinLnBrk="0" hangingPunct="1">
        <a:defRPr sz="5960" kern="1200">
          <a:solidFill>
            <a:schemeClr val="tx1"/>
          </a:solidFill>
          <a:latin typeface="+mn-lt"/>
          <a:ea typeface="+mn-ea"/>
          <a:cs typeface="+mn-cs"/>
        </a:defRPr>
      </a:lvl8pPr>
      <a:lvl9pPr marL="12109948" algn="l" defTabSz="3027487" rtl="0" eaLnBrk="1" latinLnBrk="0" hangingPunct="1">
        <a:defRPr sz="59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6" Type="http://schemas.openxmlformats.org/officeDocument/2006/relationships/image" Target="../media/image26.png"/><Relationship Id="rId39" Type="http://schemas.openxmlformats.org/officeDocument/2006/relationships/image" Target="../media/image12.png"/><Relationship Id="rId42" Type="http://schemas.openxmlformats.org/officeDocument/2006/relationships/image" Target="../media/image14.png"/><Relationship Id="rId47" Type="http://schemas.openxmlformats.org/officeDocument/2006/relationships/image" Target="../media/image21.png"/><Relationship Id="rId50" Type="http://schemas.openxmlformats.org/officeDocument/2006/relationships/image" Target="../media/image24.png"/><Relationship Id="rId55" Type="http://schemas.openxmlformats.org/officeDocument/2006/relationships/image" Target="../media/image35.png"/><Relationship Id="rId63" Type="http://schemas.openxmlformats.org/officeDocument/2006/relationships/image" Target="../media/image43.png"/><Relationship Id="rId68" Type="http://schemas.openxmlformats.org/officeDocument/2006/relationships/image" Target="../media/image38.svg"/><Relationship Id="rId2" Type="http://schemas.openxmlformats.org/officeDocument/2006/relationships/image" Target="../media/image2.png"/><Relationship Id="rId29" Type="http://schemas.openxmlformats.org/officeDocument/2006/relationships/image" Target="../media/image7.png"/><Relationship Id="rId41" Type="http://schemas.openxmlformats.org/officeDocument/2006/relationships/image" Target="../media/image20.png"/><Relationship Id="rId54" Type="http://schemas.openxmlformats.org/officeDocument/2006/relationships/image" Target="../media/image28.svg"/><Relationship Id="rId1" Type="http://schemas.openxmlformats.org/officeDocument/2006/relationships/slideLayout" Target="../slideLayouts/slideLayout1.xml"/><Relationship Id="rId32" Type="http://schemas.openxmlformats.org/officeDocument/2006/relationships/image" Target="../media/image10.png"/><Relationship Id="rId37" Type="http://schemas.openxmlformats.org/officeDocument/2006/relationships/image" Target="../media/image16.png"/><Relationship Id="rId40" Type="http://schemas.openxmlformats.org/officeDocument/2006/relationships/image" Target="../media/image13.svg"/><Relationship Id="rId45" Type="http://schemas.openxmlformats.org/officeDocument/2006/relationships/image" Target="../media/image18.png"/><Relationship Id="rId53" Type="http://schemas.openxmlformats.org/officeDocument/2006/relationships/image" Target="../media/image27.png"/><Relationship Id="rId58" Type="http://schemas.openxmlformats.org/officeDocument/2006/relationships/image" Target="../media/image30.svg"/><Relationship Id="rId66" Type="http://schemas.openxmlformats.org/officeDocument/2006/relationships/image" Target="../media/image35.svg"/><Relationship Id="rId5" Type="http://schemas.openxmlformats.org/officeDocument/2006/relationships/image" Target="../media/image5.svg"/><Relationship Id="rId28" Type="http://schemas.openxmlformats.org/officeDocument/2006/relationships/image" Target="../media/image6.jpg"/><Relationship Id="rId36" Type="http://schemas.openxmlformats.org/officeDocument/2006/relationships/image" Target="../media/image15.png"/><Relationship Id="rId49" Type="http://schemas.openxmlformats.org/officeDocument/2006/relationships/image" Target="../media/image23.tmp"/><Relationship Id="rId57" Type="http://schemas.openxmlformats.org/officeDocument/2006/relationships/image" Target="../media/image29.png"/><Relationship Id="rId31" Type="http://schemas.openxmlformats.org/officeDocument/2006/relationships/image" Target="../media/image9.png"/><Relationship Id="rId44" Type="http://schemas.openxmlformats.org/officeDocument/2006/relationships/image" Target="../media/image23.png"/><Relationship Id="rId52" Type="http://schemas.openxmlformats.org/officeDocument/2006/relationships/image" Target="../media/image32.png"/><Relationship Id="rId60" Type="http://schemas.openxmlformats.org/officeDocument/2006/relationships/image" Target="../media/image32.svg"/><Relationship Id="rId65" Type="http://schemas.openxmlformats.org/officeDocument/2006/relationships/image" Target="../media/image34.png"/><Relationship Id="rId4" Type="http://schemas.openxmlformats.org/officeDocument/2006/relationships/image" Target="../media/image4.png"/><Relationship Id="rId27" Type="http://schemas.openxmlformats.org/officeDocument/2006/relationships/image" Target="../media/image6.png"/><Relationship Id="rId30" Type="http://schemas.openxmlformats.org/officeDocument/2006/relationships/image" Target="../media/image8.png"/><Relationship Id="rId43" Type="http://schemas.openxmlformats.org/officeDocument/2006/relationships/image" Target="../media/image15.svg"/><Relationship Id="rId48" Type="http://schemas.openxmlformats.org/officeDocument/2006/relationships/image" Target="../media/image22.svg"/><Relationship Id="rId56" Type="http://schemas.openxmlformats.org/officeDocument/2006/relationships/image" Target="../media/image36.png"/><Relationship Id="rId64" Type="http://schemas.openxmlformats.org/officeDocument/2006/relationships/image" Target="../media/image33.png"/><Relationship Id="rId51" Type="http://schemas.openxmlformats.org/officeDocument/2006/relationships/image" Target="../media/image25.svg"/><Relationship Id="rId3" Type="http://schemas.openxmlformats.org/officeDocument/2006/relationships/image" Target="../media/image3.jpeg"/><Relationship Id="rId33" Type="http://schemas.openxmlformats.org/officeDocument/2006/relationships/image" Target="../media/image11.svg"/><Relationship Id="rId38" Type="http://schemas.openxmlformats.org/officeDocument/2006/relationships/image" Target="../media/image17.png"/><Relationship Id="rId46" Type="http://schemas.openxmlformats.org/officeDocument/2006/relationships/image" Target="../media/image19.svg"/><Relationship Id="rId59" Type="http://schemas.openxmlformats.org/officeDocument/2006/relationships/image" Target="../media/image31.png"/><Relationship Id="rId67" Type="http://schemas.openxmlformats.org/officeDocument/2006/relationships/image" Target="../media/image3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 name="Rechteck 277">
            <a:extLst>
              <a:ext uri="{FF2B5EF4-FFF2-40B4-BE49-F238E27FC236}">
                <a16:creationId xmlns:a16="http://schemas.microsoft.com/office/drawing/2014/main" id="{8B865EF4-2A8B-45B9-8B2A-AFF85EA8D34B}"/>
              </a:ext>
            </a:extLst>
          </p:cNvPr>
          <p:cNvSpPr/>
          <p:nvPr/>
        </p:nvSpPr>
        <p:spPr>
          <a:xfrm>
            <a:off x="14890241" y="14680033"/>
            <a:ext cx="14726145" cy="8584870"/>
          </a:xfrm>
          <a:prstGeom prst="rect">
            <a:avLst/>
          </a:prstGeom>
          <a:solidFill>
            <a:schemeClr val="bg1"/>
          </a:solidFill>
          <a:ln>
            <a:noFill/>
          </a:ln>
          <a:effectLst>
            <a:outerShdw blurRad="179333" sx="101000" sy="101000" algn="ctr" rotWithShape="0">
              <a:srgbClr val="D1D1CC">
                <a:alpha val="70568"/>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2" name="Titel 1">
            <a:extLst>
              <a:ext uri="{FF2B5EF4-FFF2-40B4-BE49-F238E27FC236}">
                <a16:creationId xmlns:a16="http://schemas.microsoft.com/office/drawing/2014/main" id="{C2CC2E18-0547-E2AE-FA12-82E5A28B6BC7}"/>
              </a:ext>
            </a:extLst>
          </p:cNvPr>
          <p:cNvSpPr>
            <a:spLocks noGrp="1"/>
          </p:cNvSpPr>
          <p:nvPr>
            <p:ph type="ctrTitle"/>
          </p:nvPr>
        </p:nvSpPr>
        <p:spPr>
          <a:xfrm>
            <a:off x="1047036" y="858504"/>
            <a:ext cx="23912931" cy="1279325"/>
          </a:xfrm>
        </p:spPr>
        <p:txBody>
          <a:bodyPr lIns="0" tIns="0" rIns="0" bIns="0">
            <a:noAutofit/>
          </a:bodyPr>
          <a:lstStyle/>
          <a:p>
            <a:pPr algn="l"/>
            <a:r>
              <a:rPr lang="de-DE" sz="7000" dirty="0">
                <a:solidFill>
                  <a:srgbClr val="233F4D"/>
                </a:solidFill>
                <a:latin typeface="Roboto" panose="02000000000000000000" pitchFamily="2" charset="0"/>
                <a:ea typeface="Roboto" panose="02000000000000000000" pitchFamily="2" charset="0"/>
                <a:cs typeface="Roboto" panose="02000000000000000000" pitchFamily="2" charset="0"/>
              </a:rPr>
              <a:t>Atom-Photon Quantum Gate </a:t>
            </a:r>
            <a:r>
              <a:rPr lang="de-DE" sz="7000" dirty="0" err="1">
                <a:solidFill>
                  <a:srgbClr val="233F4D"/>
                </a:solidFill>
                <a:latin typeface="Roboto" panose="02000000000000000000" pitchFamily="2" charset="0"/>
                <a:ea typeface="Roboto" panose="02000000000000000000" pitchFamily="2" charset="0"/>
                <a:cs typeface="Roboto" panose="02000000000000000000" pitchFamily="2" charset="0"/>
              </a:rPr>
              <a:t>using</a:t>
            </a:r>
            <a:r>
              <a:rPr lang="de-DE" sz="7000" dirty="0">
                <a:solidFill>
                  <a:srgbClr val="233F4D"/>
                </a:solidFill>
                <a:latin typeface="Roboto" panose="02000000000000000000" pitchFamily="2" charset="0"/>
                <a:ea typeface="Roboto" panose="02000000000000000000" pitchFamily="2" charset="0"/>
                <a:cs typeface="Roboto" panose="02000000000000000000" pitchFamily="2" charset="0"/>
              </a:rPr>
              <a:t> an </a:t>
            </a:r>
            <a:r>
              <a:rPr lang="de-DE" sz="7000" dirty="0" err="1">
                <a:solidFill>
                  <a:srgbClr val="233F4D"/>
                </a:solidFill>
                <a:latin typeface="Roboto" panose="02000000000000000000" pitchFamily="2" charset="0"/>
                <a:ea typeface="Roboto" panose="02000000000000000000" pitchFamily="2" charset="0"/>
                <a:cs typeface="Roboto" panose="02000000000000000000" pitchFamily="2" charset="0"/>
              </a:rPr>
              <a:t>Atomic</a:t>
            </a:r>
            <a:r>
              <a:rPr lang="de-DE" sz="7000" dirty="0">
                <a:solidFill>
                  <a:srgbClr val="233F4D"/>
                </a:solidFill>
                <a:latin typeface="Roboto" panose="02000000000000000000" pitchFamily="2" charset="0"/>
                <a:ea typeface="Roboto" panose="02000000000000000000" pitchFamily="2" charset="0"/>
                <a:cs typeface="Roboto" panose="02000000000000000000" pitchFamily="2" charset="0"/>
              </a:rPr>
              <a:t> Clock </a:t>
            </a:r>
            <a:r>
              <a:rPr lang="de-DE" sz="7000" dirty="0" err="1">
                <a:solidFill>
                  <a:srgbClr val="233F4D"/>
                </a:solidFill>
                <a:latin typeface="Roboto" panose="02000000000000000000" pitchFamily="2" charset="0"/>
                <a:ea typeface="Roboto" panose="02000000000000000000" pitchFamily="2" charset="0"/>
                <a:cs typeface="Roboto" panose="02000000000000000000" pitchFamily="2" charset="0"/>
              </a:rPr>
              <a:t>Qubit</a:t>
            </a:r>
            <a:endParaRPr lang="de-DE" sz="7000" dirty="0">
              <a:solidFill>
                <a:srgbClr val="233F4D"/>
              </a:solidFill>
              <a:latin typeface="Roboto" panose="02000000000000000000" pitchFamily="2" charset="0"/>
              <a:ea typeface="Roboto" panose="02000000000000000000" pitchFamily="2" charset="0"/>
              <a:cs typeface="Roboto" panose="02000000000000000000" pitchFamily="2" charset="0"/>
            </a:endParaRPr>
          </a:p>
        </p:txBody>
      </p:sp>
      <p:sp>
        <p:nvSpPr>
          <p:cNvPr id="3" name="Untertitel 2">
            <a:extLst>
              <a:ext uri="{FF2B5EF4-FFF2-40B4-BE49-F238E27FC236}">
                <a16:creationId xmlns:a16="http://schemas.microsoft.com/office/drawing/2014/main" id="{E502FC75-6711-8C00-A8CA-40E8E1F7FF40}"/>
              </a:ext>
            </a:extLst>
          </p:cNvPr>
          <p:cNvSpPr>
            <a:spLocks noGrp="1"/>
          </p:cNvSpPr>
          <p:nvPr>
            <p:ph type="subTitle" idx="1"/>
          </p:nvPr>
        </p:nvSpPr>
        <p:spPr>
          <a:xfrm>
            <a:off x="1400701" y="2761253"/>
            <a:ext cx="19544984" cy="2928279"/>
          </a:xfrm>
        </p:spPr>
        <p:txBody>
          <a:bodyPr>
            <a:noAutofit/>
          </a:bodyPr>
          <a:lstStyle/>
          <a:p>
            <a:pPr algn="l"/>
            <a:r>
              <a:rPr lang="pt-BR" sz="3200" dirty="0">
                <a:solidFill>
                  <a:srgbClr val="233F4D"/>
                </a:solidFill>
              </a:rPr>
              <a:t>Leart Zuka</a:t>
            </a:r>
            <a:r>
              <a:rPr lang="pt-BR" sz="3200" baseline="30000" dirty="0">
                <a:solidFill>
                  <a:srgbClr val="233F4D"/>
                </a:solidFill>
              </a:rPr>
              <a:t>1,2 </a:t>
            </a:r>
            <a:r>
              <a:rPr lang="pt-BR" sz="3200" dirty="0">
                <a:solidFill>
                  <a:srgbClr val="233F4D"/>
                </a:solidFill>
              </a:rPr>
              <a:t>, Tobias Frank</a:t>
            </a:r>
            <a:r>
              <a:rPr lang="pt-BR" sz="3200" baseline="30000" dirty="0">
                <a:solidFill>
                  <a:srgbClr val="233F4D"/>
                </a:solidFill>
              </a:rPr>
              <a:t>1,2 </a:t>
            </a:r>
            <a:r>
              <a:rPr lang="pt-BR" sz="3200" dirty="0">
                <a:solidFill>
                  <a:srgbClr val="233F4D"/>
                </a:solidFill>
              </a:rPr>
              <a:t>, Gianvito Chiarella</a:t>
            </a:r>
            <a:r>
              <a:rPr lang="pt-BR" sz="3200" baseline="30000" dirty="0">
                <a:solidFill>
                  <a:srgbClr val="233F4D"/>
                </a:solidFill>
              </a:rPr>
              <a:t>1,2 </a:t>
            </a:r>
            <a:r>
              <a:rPr lang="pt-BR" sz="3200" dirty="0">
                <a:solidFill>
                  <a:srgbClr val="233F4D"/>
                </a:solidFill>
              </a:rPr>
              <a:t>, Pau Farrera</a:t>
            </a:r>
            <a:r>
              <a:rPr lang="pt-BR" sz="3200" baseline="30000" dirty="0">
                <a:solidFill>
                  <a:srgbClr val="233F4D"/>
                </a:solidFill>
              </a:rPr>
              <a:t>1,2</a:t>
            </a:r>
            <a:r>
              <a:rPr lang="pt-BR" sz="3200" dirty="0">
                <a:solidFill>
                  <a:srgbClr val="233F4D"/>
                </a:solidFill>
              </a:rPr>
              <a:t>, Gerhard Rempe</a:t>
            </a:r>
            <a:r>
              <a:rPr lang="pt-BR" sz="3200" baseline="30000" dirty="0">
                <a:solidFill>
                  <a:srgbClr val="233F4D"/>
                </a:solidFill>
              </a:rPr>
              <a:t>1,2</a:t>
            </a:r>
          </a:p>
          <a:p>
            <a:pPr algn="l"/>
            <a:r>
              <a:rPr lang="de-DE" sz="3200" dirty="0">
                <a:solidFill>
                  <a:srgbClr val="233F4D"/>
                </a:solidFill>
              </a:rPr>
              <a:t>1 Max-Planck-Institut für Quantenoptik, Hans-Kopfermann-Straße 1, 85748 Garching</a:t>
            </a:r>
            <a:br>
              <a:rPr lang="de-DE" sz="3200" dirty="0">
                <a:solidFill>
                  <a:srgbClr val="233F4D"/>
                </a:solidFill>
              </a:rPr>
            </a:br>
            <a:r>
              <a:rPr lang="de-DE" sz="3200" dirty="0">
                <a:solidFill>
                  <a:srgbClr val="233F4D"/>
                </a:solidFill>
                <a:cs typeface="Arial" panose="020B0604020202020204" pitchFamily="34" charset="0"/>
              </a:rPr>
              <a:t>2 Munich Center </a:t>
            </a:r>
            <a:r>
              <a:rPr lang="de-DE" sz="3200" dirty="0" err="1">
                <a:solidFill>
                  <a:srgbClr val="233F4D"/>
                </a:solidFill>
                <a:cs typeface="Arial" panose="020B0604020202020204" pitchFamily="34" charset="0"/>
              </a:rPr>
              <a:t>for</a:t>
            </a:r>
            <a:r>
              <a:rPr lang="de-DE" sz="3200" dirty="0">
                <a:solidFill>
                  <a:srgbClr val="233F4D"/>
                </a:solidFill>
                <a:cs typeface="Arial" panose="020B0604020202020204" pitchFamily="34" charset="0"/>
              </a:rPr>
              <a:t> Quantum Science and Technology (MCQST), Schellingstr. 4, 80799 München</a:t>
            </a:r>
          </a:p>
        </p:txBody>
      </p:sp>
      <p:sp>
        <p:nvSpPr>
          <p:cNvPr id="4" name="Rechteck 3">
            <a:extLst>
              <a:ext uri="{FF2B5EF4-FFF2-40B4-BE49-F238E27FC236}">
                <a16:creationId xmlns:a16="http://schemas.microsoft.com/office/drawing/2014/main" id="{195869CB-E8E0-3AD6-69FD-C8133F16C445}"/>
              </a:ext>
            </a:extLst>
          </p:cNvPr>
          <p:cNvSpPr/>
          <p:nvPr/>
        </p:nvSpPr>
        <p:spPr>
          <a:xfrm>
            <a:off x="981277" y="6441927"/>
            <a:ext cx="16597188" cy="6211067"/>
          </a:xfrm>
          <a:prstGeom prst="rect">
            <a:avLst/>
          </a:prstGeom>
          <a:solidFill>
            <a:schemeClr val="bg1"/>
          </a:solidFill>
          <a:ln>
            <a:noFill/>
          </a:ln>
          <a:effectLst>
            <a:outerShdw blurRad="179333" sx="101000" sy="101000" algn="ctr" rotWithShape="0">
              <a:srgbClr val="D1D1CC">
                <a:alpha val="70568"/>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4" name="Rechteck 13">
            <a:extLst>
              <a:ext uri="{FF2B5EF4-FFF2-40B4-BE49-F238E27FC236}">
                <a16:creationId xmlns:a16="http://schemas.microsoft.com/office/drawing/2014/main" id="{0764128B-8C39-A9BB-3CA8-6A4470FF5D5D}"/>
              </a:ext>
            </a:extLst>
          </p:cNvPr>
          <p:cNvSpPr/>
          <p:nvPr/>
        </p:nvSpPr>
        <p:spPr>
          <a:xfrm>
            <a:off x="18211839" y="6441928"/>
            <a:ext cx="11237266" cy="6207248"/>
          </a:xfrm>
          <a:prstGeom prst="rect">
            <a:avLst/>
          </a:prstGeom>
          <a:solidFill>
            <a:schemeClr val="bg1"/>
          </a:solidFill>
          <a:ln>
            <a:noFill/>
          </a:ln>
          <a:effectLst>
            <a:outerShdw blurRad="179333" sx="101000" sy="101000" algn="ctr" rotWithShape="0">
              <a:srgbClr val="D1D1CC">
                <a:alpha val="70568"/>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solidFill>
                <a:schemeClr val="tx1"/>
              </a:solidFill>
            </a:endParaRPr>
          </a:p>
        </p:txBody>
      </p:sp>
      <p:sp>
        <p:nvSpPr>
          <p:cNvPr id="23" name="Textfeld 22">
            <a:extLst>
              <a:ext uri="{FF2B5EF4-FFF2-40B4-BE49-F238E27FC236}">
                <a16:creationId xmlns:a16="http://schemas.microsoft.com/office/drawing/2014/main" id="{6B371966-DF8D-1BA6-B7E5-CCA90E96196E}"/>
              </a:ext>
            </a:extLst>
          </p:cNvPr>
          <p:cNvSpPr txBox="1"/>
          <p:nvPr/>
        </p:nvSpPr>
        <p:spPr>
          <a:xfrm>
            <a:off x="18412529" y="6871109"/>
            <a:ext cx="11017572" cy="1627837"/>
          </a:xfrm>
          <a:prstGeom prst="rect">
            <a:avLst/>
          </a:prstGeom>
          <a:noFill/>
        </p:spPr>
        <p:txBody>
          <a:bodyPr wrap="square" lIns="540000" tIns="0" rIns="0" bIns="0" rtlCol="0">
            <a:noAutofit/>
          </a:bodyPr>
          <a:lstStyle/>
          <a:p>
            <a:r>
              <a:rPr lang="en-US" sz="3700" dirty="0" err="1">
                <a:solidFill>
                  <a:srgbClr val="233F4D"/>
                </a:solidFill>
                <a:latin typeface="Roboto" panose="02000000000000000000" pitchFamily="2" charset="0"/>
                <a:ea typeface="Roboto" panose="02000000000000000000" pitchFamily="2" charset="0"/>
                <a:cs typeface="Roboto" panose="02000000000000000000" pitchFamily="2" charset="0"/>
              </a:rPr>
              <a:t>Rb</a:t>
            </a:r>
            <a:r>
              <a:rPr lang="en-US" sz="3700" dirty="0">
                <a:solidFill>
                  <a:srgbClr val="233F4D"/>
                </a:solidFill>
                <a:latin typeface="Roboto" panose="02000000000000000000" pitchFamily="2" charset="0"/>
                <a:ea typeface="Roboto" panose="02000000000000000000" pitchFamily="2" charset="0"/>
                <a:cs typeface="Roboto" panose="02000000000000000000" pitchFamily="2" charset="0"/>
              </a:rPr>
              <a:t> atoms (in cavities) as building blocks for quantum networks</a:t>
            </a:r>
            <a:endParaRPr lang="de-DE" sz="3700" dirty="0">
              <a:solidFill>
                <a:srgbClr val="233F4D"/>
              </a:solidFill>
              <a:latin typeface="Roboto" panose="02000000000000000000" pitchFamily="2" charset="0"/>
              <a:ea typeface="Roboto" panose="02000000000000000000" pitchFamily="2" charset="0"/>
              <a:cs typeface="Roboto" panose="02000000000000000000" pitchFamily="2" charset="0"/>
            </a:endParaRPr>
          </a:p>
        </p:txBody>
      </p:sp>
      <p:sp>
        <p:nvSpPr>
          <p:cNvPr id="27" name="Textfeld 26">
            <a:extLst>
              <a:ext uri="{FF2B5EF4-FFF2-40B4-BE49-F238E27FC236}">
                <a16:creationId xmlns:a16="http://schemas.microsoft.com/office/drawing/2014/main" id="{A3D72FB1-11FB-839D-98EE-E403454DCB08}"/>
              </a:ext>
            </a:extLst>
          </p:cNvPr>
          <p:cNvSpPr txBox="1"/>
          <p:nvPr/>
        </p:nvSpPr>
        <p:spPr>
          <a:xfrm>
            <a:off x="2089385" y="39221551"/>
            <a:ext cx="12981616" cy="951295"/>
          </a:xfrm>
          <a:prstGeom prst="rect">
            <a:avLst/>
          </a:prstGeom>
          <a:noFill/>
        </p:spPr>
        <p:txBody>
          <a:bodyPr wrap="square" lIns="0" tIns="0" rIns="0" bIns="0" rtlCol="0">
            <a:noAutofit/>
          </a:bodyPr>
          <a:lstStyle/>
          <a:p>
            <a:r>
              <a:rPr lang="de-DE" sz="3700" dirty="0">
                <a:solidFill>
                  <a:srgbClr val="233F4D"/>
                </a:solidFill>
                <a:latin typeface="Roboto" panose="02000000000000000000" pitchFamily="2" charset="0"/>
                <a:ea typeface="Roboto" panose="02000000000000000000" pitchFamily="2" charset="0"/>
                <a:cs typeface="Roboto" panose="02000000000000000000" pitchFamily="2" charset="0"/>
              </a:rPr>
              <a:t>References</a:t>
            </a:r>
          </a:p>
        </p:txBody>
      </p:sp>
      <p:sp>
        <p:nvSpPr>
          <p:cNvPr id="28" name="Textfeld 27">
            <a:extLst>
              <a:ext uri="{FF2B5EF4-FFF2-40B4-BE49-F238E27FC236}">
                <a16:creationId xmlns:a16="http://schemas.microsoft.com/office/drawing/2014/main" id="{6C888F36-05D2-A266-A732-B7911293D453}"/>
              </a:ext>
            </a:extLst>
          </p:cNvPr>
          <p:cNvSpPr txBox="1"/>
          <p:nvPr/>
        </p:nvSpPr>
        <p:spPr>
          <a:xfrm>
            <a:off x="16632636" y="39843697"/>
            <a:ext cx="7372151" cy="951294"/>
          </a:xfrm>
          <a:prstGeom prst="rect">
            <a:avLst/>
          </a:prstGeom>
          <a:noFill/>
        </p:spPr>
        <p:txBody>
          <a:bodyPr wrap="square" lIns="0" tIns="0" rIns="0" bIns="0" rtlCol="0">
            <a:noAutofit/>
          </a:bodyPr>
          <a:lstStyle/>
          <a:p>
            <a:r>
              <a:rPr lang="de-DE" sz="3700" dirty="0">
                <a:solidFill>
                  <a:srgbClr val="233F4D"/>
                </a:solidFill>
                <a:latin typeface="Roboto" panose="02000000000000000000" pitchFamily="2" charset="0"/>
                <a:ea typeface="Roboto" panose="02000000000000000000" pitchFamily="2" charset="0"/>
                <a:cs typeface="Roboto" panose="02000000000000000000" pitchFamily="2" charset="0"/>
              </a:rPr>
              <a:t>Fundings</a:t>
            </a:r>
          </a:p>
        </p:txBody>
      </p:sp>
      <p:sp>
        <p:nvSpPr>
          <p:cNvPr id="29" name="Textfeld 28">
            <a:extLst>
              <a:ext uri="{FF2B5EF4-FFF2-40B4-BE49-F238E27FC236}">
                <a16:creationId xmlns:a16="http://schemas.microsoft.com/office/drawing/2014/main" id="{492BCA1C-D468-F37E-80B3-71DD103679AB}"/>
              </a:ext>
            </a:extLst>
          </p:cNvPr>
          <p:cNvSpPr txBox="1"/>
          <p:nvPr/>
        </p:nvSpPr>
        <p:spPr>
          <a:xfrm>
            <a:off x="1715014" y="40054829"/>
            <a:ext cx="15214907" cy="2181670"/>
          </a:xfrm>
          <a:prstGeom prst="rect">
            <a:avLst/>
          </a:prstGeom>
          <a:noFill/>
        </p:spPr>
        <p:txBody>
          <a:bodyPr wrap="square" lIns="0" tIns="0" rIns="0" bIns="0" rtlCol="0">
            <a:noAutofit/>
          </a:bodyPr>
          <a:lstStyle/>
          <a:p>
            <a:pPr>
              <a:lnSpc>
                <a:spcPct val="114000"/>
              </a:lnSpc>
            </a:pPr>
            <a:r>
              <a:rPr lang="de-DE" sz="2000" dirty="0">
                <a:solidFill>
                  <a:srgbClr val="233F4D"/>
                </a:solidFill>
                <a:latin typeface="Roboto" panose="02000000000000000000" pitchFamily="2" charset="0"/>
                <a:ea typeface="Roboto" panose="02000000000000000000" pitchFamily="2" charset="0"/>
                <a:cs typeface="Roboto" panose="02000000000000000000" pitchFamily="2" charset="0"/>
              </a:rPr>
              <a:t>[1] </a:t>
            </a:r>
            <a:r>
              <a:rPr lang="de-DE" sz="2000" dirty="0">
                <a:solidFill>
                  <a:srgbClr val="233F4D"/>
                </a:solidFill>
                <a:latin typeface="Roboto" panose="02000000000000000000" pitchFamily="2" charset="0"/>
                <a:ea typeface="Roboto" panose="02000000000000000000" pitchFamily="2" charset="0"/>
              </a:rPr>
              <a:t>P. Thomas et al., Nature 608, 677-681 (2022)</a:t>
            </a:r>
            <a:endParaRPr lang="de-DE" sz="2000" dirty="0">
              <a:solidFill>
                <a:srgbClr val="233F4D"/>
              </a:solidFill>
              <a:latin typeface="Roboto" panose="02000000000000000000" pitchFamily="2" charset="0"/>
              <a:ea typeface="Roboto" panose="02000000000000000000" pitchFamily="2" charset="0"/>
              <a:cs typeface="Roboto" panose="02000000000000000000" pitchFamily="2" charset="0"/>
            </a:endParaRPr>
          </a:p>
          <a:p>
            <a:pPr>
              <a:lnSpc>
                <a:spcPct val="114000"/>
              </a:lnSpc>
            </a:pPr>
            <a:r>
              <a:rPr lang="de-DE" sz="2000" dirty="0">
                <a:solidFill>
                  <a:srgbClr val="233F4D"/>
                </a:solidFill>
                <a:latin typeface="Roboto" panose="02000000000000000000" pitchFamily="2" charset="0"/>
                <a:ea typeface="Roboto" panose="02000000000000000000" pitchFamily="2" charset="0"/>
                <a:cs typeface="Roboto" panose="02000000000000000000" pitchFamily="2" charset="0"/>
              </a:rPr>
              <a:t>[2] M. </a:t>
            </a:r>
            <a:r>
              <a:rPr lang="de-DE" sz="2000" dirty="0" err="1">
                <a:solidFill>
                  <a:srgbClr val="233F4D"/>
                </a:solidFill>
                <a:latin typeface="Roboto" panose="02000000000000000000" pitchFamily="2" charset="0"/>
                <a:ea typeface="Roboto" panose="02000000000000000000" pitchFamily="2" charset="0"/>
                <a:cs typeface="Roboto" panose="02000000000000000000" pitchFamily="2" charset="0"/>
              </a:rPr>
              <a:t>Brekenfeld</a:t>
            </a:r>
            <a:r>
              <a:rPr lang="de-DE" sz="2000" dirty="0">
                <a:solidFill>
                  <a:srgbClr val="233F4D"/>
                </a:solidFill>
                <a:latin typeface="Roboto" panose="02000000000000000000" pitchFamily="2" charset="0"/>
                <a:ea typeface="Roboto" panose="02000000000000000000" pitchFamily="2" charset="0"/>
                <a:cs typeface="Roboto" panose="02000000000000000000" pitchFamily="2" charset="0"/>
              </a:rPr>
              <a:t> et al., Nat. Phys. 16, 647–651 (2020)</a:t>
            </a:r>
          </a:p>
          <a:p>
            <a:pPr>
              <a:lnSpc>
                <a:spcPct val="114000"/>
              </a:lnSpc>
            </a:pPr>
            <a:r>
              <a:rPr lang="de-DE" sz="2000" dirty="0">
                <a:solidFill>
                  <a:srgbClr val="233F4D"/>
                </a:solidFill>
                <a:latin typeface="Roboto" panose="02000000000000000000" pitchFamily="2" charset="0"/>
                <a:ea typeface="Roboto" panose="02000000000000000000" pitchFamily="2" charset="0"/>
                <a:cs typeface="Roboto" panose="02000000000000000000" pitchFamily="2" charset="0"/>
              </a:rPr>
              <a:t>[3] </a:t>
            </a:r>
            <a:r>
              <a:rPr lang="en-US" sz="2000" dirty="0">
                <a:solidFill>
                  <a:srgbClr val="233F4D"/>
                </a:solidFill>
                <a:latin typeface="Roboto" panose="02000000000000000000" pitchFamily="2" charset="0"/>
                <a:ea typeface="Roboto" panose="02000000000000000000" pitchFamily="2" charset="0"/>
                <a:cs typeface="Roboto" panose="02000000000000000000" pitchFamily="2" charset="0"/>
              </a:rPr>
              <a:t>M. </a:t>
            </a:r>
            <a:r>
              <a:rPr lang="en-US" sz="2000" dirty="0" err="1">
                <a:solidFill>
                  <a:srgbClr val="233F4D"/>
                </a:solidFill>
                <a:latin typeface="Roboto" panose="02000000000000000000" pitchFamily="2" charset="0"/>
                <a:ea typeface="Roboto" panose="02000000000000000000" pitchFamily="2" charset="0"/>
                <a:cs typeface="Roboto" panose="02000000000000000000" pitchFamily="2" charset="0"/>
              </a:rPr>
              <a:t>Uphoff</a:t>
            </a:r>
            <a:r>
              <a:rPr lang="en-US" sz="2000" dirty="0">
                <a:solidFill>
                  <a:srgbClr val="233F4D"/>
                </a:solidFill>
                <a:latin typeface="Roboto" panose="02000000000000000000" pitchFamily="2" charset="0"/>
                <a:ea typeface="Roboto" panose="02000000000000000000" pitchFamily="2" charset="0"/>
                <a:cs typeface="Roboto" panose="02000000000000000000" pitchFamily="2" charset="0"/>
              </a:rPr>
              <a:t> et al., Applied Physics B: Lasers and Optics 122 (3), 46 (2016)</a:t>
            </a:r>
            <a:endParaRPr lang="de-DE" sz="2000" dirty="0">
              <a:solidFill>
                <a:srgbClr val="233F4D"/>
              </a:solidFill>
              <a:latin typeface="Roboto" panose="02000000000000000000" pitchFamily="2" charset="0"/>
              <a:ea typeface="Roboto" panose="02000000000000000000" pitchFamily="2" charset="0"/>
              <a:cs typeface="Roboto" panose="02000000000000000000" pitchFamily="2" charset="0"/>
            </a:endParaRPr>
          </a:p>
          <a:p>
            <a:pPr>
              <a:lnSpc>
                <a:spcPct val="114000"/>
              </a:lnSpc>
            </a:pPr>
            <a:r>
              <a:rPr lang="de-DE" sz="2000" dirty="0">
                <a:solidFill>
                  <a:srgbClr val="233F4D"/>
                </a:solidFill>
                <a:latin typeface="Roboto" panose="02000000000000000000" pitchFamily="2" charset="0"/>
                <a:ea typeface="Roboto" panose="02000000000000000000" pitchFamily="2" charset="0"/>
                <a:cs typeface="Roboto" panose="02000000000000000000" pitchFamily="2" charset="0"/>
              </a:rPr>
              <a:t>[4] Duan &amp; </a:t>
            </a:r>
            <a:r>
              <a:rPr lang="de-DE" sz="2000" dirty="0" err="1">
                <a:solidFill>
                  <a:srgbClr val="233F4D"/>
                </a:solidFill>
                <a:latin typeface="Roboto" panose="02000000000000000000" pitchFamily="2" charset="0"/>
                <a:ea typeface="Roboto" panose="02000000000000000000" pitchFamily="2" charset="0"/>
                <a:cs typeface="Roboto" panose="02000000000000000000" pitchFamily="2" charset="0"/>
              </a:rPr>
              <a:t>Kimble</a:t>
            </a:r>
            <a:r>
              <a:rPr lang="de-DE" sz="2000" dirty="0">
                <a:solidFill>
                  <a:srgbClr val="233F4D"/>
                </a:solidFill>
                <a:latin typeface="Roboto" panose="02000000000000000000" pitchFamily="2" charset="0"/>
                <a:ea typeface="Roboto" panose="02000000000000000000" pitchFamily="2" charset="0"/>
                <a:cs typeface="Roboto" panose="02000000000000000000" pitchFamily="2" charset="0"/>
              </a:rPr>
              <a:t>, Phys. Rev. 92(12), 127902 (2004)</a:t>
            </a:r>
          </a:p>
          <a:p>
            <a:pPr>
              <a:lnSpc>
                <a:spcPct val="114000"/>
              </a:lnSpc>
            </a:pPr>
            <a:r>
              <a:rPr lang="fr-FR" sz="2000" dirty="0">
                <a:solidFill>
                  <a:srgbClr val="233F4D"/>
                </a:solidFill>
                <a:latin typeface="Roboto" panose="02000000000000000000" pitchFamily="2" charset="0"/>
                <a:ea typeface="Roboto" panose="02000000000000000000" pitchFamily="2" charset="0"/>
                <a:cs typeface="Roboto" panose="02000000000000000000" pitchFamily="2" charset="0"/>
              </a:rPr>
              <a:t>[5] S. </a:t>
            </a:r>
            <a:r>
              <a:rPr lang="fr-FR" sz="2000" dirty="0" err="1">
                <a:solidFill>
                  <a:srgbClr val="233F4D"/>
                </a:solidFill>
                <a:latin typeface="Roboto" panose="02000000000000000000" pitchFamily="2" charset="0"/>
                <a:ea typeface="Roboto" panose="02000000000000000000" pitchFamily="2" charset="0"/>
                <a:cs typeface="Roboto" panose="02000000000000000000" pitchFamily="2" charset="0"/>
              </a:rPr>
              <a:t>Welte</a:t>
            </a:r>
            <a:r>
              <a:rPr lang="fr-FR" sz="2000" dirty="0">
                <a:solidFill>
                  <a:srgbClr val="233F4D"/>
                </a:solidFill>
                <a:latin typeface="Roboto" panose="02000000000000000000" pitchFamily="2" charset="0"/>
                <a:ea typeface="Roboto" panose="02000000000000000000" pitchFamily="2" charset="0"/>
                <a:cs typeface="Roboto" panose="02000000000000000000" pitchFamily="2" charset="0"/>
              </a:rPr>
              <a:t> et al., Phys. </a:t>
            </a:r>
            <a:r>
              <a:rPr lang="fr-FR" sz="2000" dirty="0" err="1">
                <a:solidFill>
                  <a:srgbClr val="233F4D"/>
                </a:solidFill>
                <a:latin typeface="Roboto" panose="02000000000000000000" pitchFamily="2" charset="0"/>
                <a:ea typeface="Roboto" panose="02000000000000000000" pitchFamily="2" charset="0"/>
                <a:cs typeface="Roboto" panose="02000000000000000000" pitchFamily="2" charset="0"/>
              </a:rPr>
              <a:t>Rev</a:t>
            </a:r>
            <a:r>
              <a:rPr lang="fr-FR" sz="2000" dirty="0">
                <a:solidFill>
                  <a:srgbClr val="233F4D"/>
                </a:solidFill>
                <a:latin typeface="Roboto" panose="02000000000000000000" pitchFamily="2" charset="0"/>
                <a:ea typeface="Roboto" panose="02000000000000000000" pitchFamily="2" charset="0"/>
                <a:cs typeface="Roboto" panose="02000000000000000000" pitchFamily="2" charset="0"/>
              </a:rPr>
              <a:t>. X 8 (1), 011018 (2018)</a:t>
            </a:r>
          </a:p>
          <a:p>
            <a:pPr>
              <a:lnSpc>
                <a:spcPct val="114000"/>
              </a:lnSpc>
            </a:pPr>
            <a:r>
              <a:rPr lang="fr-FR" sz="2000" dirty="0">
                <a:solidFill>
                  <a:srgbClr val="233F4D"/>
                </a:solidFill>
                <a:latin typeface="Roboto" panose="02000000000000000000" pitchFamily="2" charset="0"/>
                <a:ea typeface="Roboto" panose="02000000000000000000" pitchFamily="2" charset="0"/>
                <a:cs typeface="Roboto" panose="02000000000000000000" pitchFamily="2" charset="0"/>
              </a:rPr>
              <a:t>[6] S. </a:t>
            </a:r>
            <a:r>
              <a:rPr lang="fr-FR" sz="2000" dirty="0" err="1">
                <a:solidFill>
                  <a:srgbClr val="233F4D"/>
                </a:solidFill>
                <a:latin typeface="Roboto" panose="02000000000000000000" pitchFamily="2" charset="0"/>
                <a:ea typeface="Roboto" panose="02000000000000000000" pitchFamily="2" charset="0"/>
                <a:cs typeface="Roboto" panose="02000000000000000000" pitchFamily="2" charset="0"/>
              </a:rPr>
              <a:t>Langenfeld</a:t>
            </a:r>
            <a:r>
              <a:rPr lang="fr-FR" sz="2000" dirty="0">
                <a:solidFill>
                  <a:srgbClr val="233F4D"/>
                </a:solidFill>
                <a:latin typeface="Roboto" panose="02000000000000000000" pitchFamily="2" charset="0"/>
                <a:ea typeface="Roboto" panose="02000000000000000000" pitchFamily="2" charset="0"/>
                <a:cs typeface="Roboto" panose="02000000000000000000" pitchFamily="2" charset="0"/>
              </a:rPr>
              <a:t>, Phys. </a:t>
            </a:r>
            <a:r>
              <a:rPr lang="fr-FR" sz="2000" dirty="0" err="1">
                <a:solidFill>
                  <a:srgbClr val="233F4D"/>
                </a:solidFill>
                <a:latin typeface="Roboto" panose="02000000000000000000" pitchFamily="2" charset="0"/>
                <a:ea typeface="Roboto" panose="02000000000000000000" pitchFamily="2" charset="0"/>
                <a:cs typeface="Roboto" panose="02000000000000000000" pitchFamily="2" charset="0"/>
              </a:rPr>
              <a:t>Rev</a:t>
            </a:r>
            <a:r>
              <a:rPr lang="fr-FR" sz="2000" dirty="0">
                <a:solidFill>
                  <a:srgbClr val="233F4D"/>
                </a:solidFill>
                <a:latin typeface="Roboto" panose="02000000000000000000" pitchFamily="2" charset="0"/>
                <a:ea typeface="Roboto" panose="02000000000000000000" pitchFamily="2" charset="0"/>
                <a:cs typeface="Roboto" panose="02000000000000000000" pitchFamily="2" charset="0"/>
              </a:rPr>
              <a:t>. </a:t>
            </a:r>
            <a:r>
              <a:rPr lang="fr-FR" sz="2000" dirty="0" err="1">
                <a:solidFill>
                  <a:srgbClr val="233F4D"/>
                </a:solidFill>
                <a:latin typeface="Roboto" panose="02000000000000000000" pitchFamily="2" charset="0"/>
                <a:ea typeface="Roboto" panose="02000000000000000000" pitchFamily="2" charset="0"/>
                <a:cs typeface="Roboto" panose="02000000000000000000" pitchFamily="2" charset="0"/>
              </a:rPr>
              <a:t>Lett</a:t>
            </a:r>
            <a:r>
              <a:rPr lang="fr-FR" sz="2000" dirty="0">
                <a:solidFill>
                  <a:srgbClr val="233F4D"/>
                </a:solidFill>
                <a:latin typeface="Roboto" panose="02000000000000000000" pitchFamily="2" charset="0"/>
                <a:ea typeface="Roboto" panose="02000000000000000000" pitchFamily="2" charset="0"/>
                <a:cs typeface="Roboto" panose="02000000000000000000" pitchFamily="2" charset="0"/>
              </a:rPr>
              <a:t>. 126, 130502 (2021)</a:t>
            </a:r>
          </a:p>
        </p:txBody>
      </p:sp>
      <p:sp>
        <p:nvSpPr>
          <p:cNvPr id="10" name="Textfeld 9">
            <a:extLst>
              <a:ext uri="{FF2B5EF4-FFF2-40B4-BE49-F238E27FC236}">
                <a16:creationId xmlns:a16="http://schemas.microsoft.com/office/drawing/2014/main" id="{A42A658A-EA61-41B5-849A-30CC810C4D74}"/>
              </a:ext>
            </a:extLst>
          </p:cNvPr>
          <p:cNvSpPr txBox="1"/>
          <p:nvPr/>
        </p:nvSpPr>
        <p:spPr>
          <a:xfrm>
            <a:off x="1296450" y="6924273"/>
            <a:ext cx="15792874" cy="5570756"/>
          </a:xfrm>
          <a:prstGeom prst="rect">
            <a:avLst/>
          </a:prstGeom>
          <a:noFill/>
        </p:spPr>
        <p:txBody>
          <a:bodyPr wrap="square" rtlCol="0">
            <a:spAutoFit/>
          </a:bodyPr>
          <a:lstStyle/>
          <a:p>
            <a:pPr>
              <a:lnSpc>
                <a:spcPct val="150000"/>
              </a:lnSpc>
            </a:pPr>
            <a:r>
              <a:rPr lang="en-US" sz="2400" dirty="0">
                <a:latin typeface="Roboto" panose="02000000000000000000" pitchFamily="2" charset="0"/>
                <a:ea typeface="Roboto" panose="02000000000000000000" pitchFamily="2" charset="0"/>
              </a:rPr>
              <a:t>Single atoms coupled to optical cavities provide a powerful platform for photonic quantum information processing.</a:t>
            </a:r>
          </a:p>
          <a:p>
            <a:pPr>
              <a:lnSpc>
                <a:spcPct val="150000"/>
              </a:lnSpc>
            </a:pPr>
            <a:r>
              <a:rPr lang="en-US" sz="2400" dirty="0">
                <a:latin typeface="Roboto" panose="02000000000000000000" pitchFamily="2" charset="0"/>
                <a:ea typeface="Roboto" panose="02000000000000000000" pitchFamily="2" charset="0"/>
              </a:rPr>
              <a:t>Using photonic qubits has the obvious advantage that scaling is very easily achieved by simply sending more single-photon pulses. However, for these photons to serve as effective carriers of information, one must ensure that the interface between the atoms and the photons via gates has high fidelities and low errors.</a:t>
            </a:r>
          </a:p>
          <a:p>
            <a:pPr>
              <a:lnSpc>
                <a:spcPct val="150000"/>
              </a:lnSpc>
            </a:pPr>
            <a:r>
              <a:rPr lang="en-US" sz="2400" dirty="0">
                <a:latin typeface="Roboto" panose="02000000000000000000" pitchFamily="2" charset="0"/>
                <a:ea typeface="Roboto" panose="02000000000000000000" pitchFamily="2" charset="0"/>
              </a:rPr>
              <a:t>In this work</a:t>
            </a:r>
            <a:r>
              <a:rPr lang="de-DE" sz="2400" dirty="0">
                <a:latin typeface="Roboto" panose="02000000000000000000" pitchFamily="2" charset="0"/>
                <a:ea typeface="Roboto" panose="02000000000000000000" pitchFamily="2" charset="0"/>
              </a:rPr>
              <a:t>, </a:t>
            </a:r>
            <a:r>
              <a:rPr lang="de-DE" sz="2400" dirty="0" err="1">
                <a:latin typeface="Roboto" panose="02000000000000000000" pitchFamily="2" charset="0"/>
                <a:ea typeface="Roboto" panose="02000000000000000000" pitchFamily="2" charset="0"/>
              </a:rPr>
              <a:t>we</a:t>
            </a:r>
            <a:r>
              <a:rPr lang="de-DE" sz="2400" dirty="0">
                <a:latin typeface="Roboto" panose="02000000000000000000" pitchFamily="2" charset="0"/>
                <a:ea typeface="Roboto" panose="02000000000000000000" pitchFamily="2" charset="0"/>
              </a:rPr>
              <a:t> </a:t>
            </a:r>
            <a:r>
              <a:rPr lang="de-DE" sz="2400" dirty="0" err="1">
                <a:latin typeface="Roboto" panose="02000000000000000000" pitchFamily="2" charset="0"/>
                <a:ea typeface="Roboto" panose="02000000000000000000" pitchFamily="2" charset="0"/>
              </a:rPr>
              <a:t>investigate</a:t>
            </a:r>
            <a:r>
              <a:rPr lang="de-DE" sz="2400" dirty="0">
                <a:latin typeface="Roboto" panose="02000000000000000000" pitchFamily="2" charset="0"/>
                <a:ea typeface="Roboto" panose="02000000000000000000" pitchFamily="2" charset="0"/>
              </a:rPr>
              <a:t> a </a:t>
            </a:r>
            <a:r>
              <a:rPr lang="de-DE" sz="2400" dirty="0" err="1">
                <a:latin typeface="Roboto" panose="02000000000000000000" pitchFamily="2" charset="0"/>
                <a:ea typeface="Roboto" panose="02000000000000000000" pitchFamily="2" charset="0"/>
              </a:rPr>
              <a:t>novel</a:t>
            </a:r>
            <a:r>
              <a:rPr lang="de-DE" sz="2400" dirty="0">
                <a:latin typeface="Roboto" panose="02000000000000000000" pitchFamily="2" charset="0"/>
                <a:ea typeface="Roboto" panose="02000000000000000000" pitchFamily="2" charset="0"/>
              </a:rPr>
              <a:t> </a:t>
            </a:r>
            <a:r>
              <a:rPr lang="de-DE" sz="2400" dirty="0" err="1">
                <a:latin typeface="Roboto" panose="02000000000000000000" pitchFamily="2" charset="0"/>
                <a:ea typeface="Roboto" panose="02000000000000000000" pitchFamily="2" charset="0"/>
              </a:rPr>
              <a:t>gate</a:t>
            </a:r>
            <a:r>
              <a:rPr lang="de-DE" sz="2400" dirty="0">
                <a:latin typeface="Roboto" panose="02000000000000000000" pitchFamily="2" charset="0"/>
                <a:ea typeface="Roboto" panose="02000000000000000000" pitchFamily="2" charset="0"/>
              </a:rPr>
              <a:t> </a:t>
            </a:r>
            <a:r>
              <a:rPr lang="de-DE" sz="2400" dirty="0" err="1">
                <a:latin typeface="Roboto" panose="02000000000000000000" pitchFamily="2" charset="0"/>
                <a:ea typeface="Roboto" panose="02000000000000000000" pitchFamily="2" charset="0"/>
              </a:rPr>
              <a:t>protocol</a:t>
            </a:r>
            <a:r>
              <a:rPr lang="de-DE" sz="2400" dirty="0">
                <a:latin typeface="Roboto" panose="02000000000000000000" pitchFamily="2" charset="0"/>
                <a:ea typeface="Roboto" panose="02000000000000000000" pitchFamily="2" charset="0"/>
              </a:rPr>
              <a:t> </a:t>
            </a:r>
            <a:r>
              <a:rPr lang="de-DE" sz="2400" dirty="0" err="1">
                <a:latin typeface="Roboto" panose="02000000000000000000" pitchFamily="2" charset="0"/>
                <a:ea typeface="Roboto" panose="02000000000000000000" pitchFamily="2" charset="0"/>
              </a:rPr>
              <a:t>that</a:t>
            </a:r>
            <a:r>
              <a:rPr lang="de-DE" sz="2400" dirty="0">
                <a:latin typeface="Roboto" panose="02000000000000000000" pitchFamily="2" charset="0"/>
                <a:ea typeface="Roboto" panose="02000000000000000000" pitchFamily="2" charset="0"/>
              </a:rPr>
              <a:t> </a:t>
            </a:r>
            <a:r>
              <a:rPr lang="de-DE" sz="2400" dirty="0" err="1">
                <a:latin typeface="Roboto" panose="02000000000000000000" pitchFamily="2" charset="0"/>
                <a:ea typeface="Roboto" panose="02000000000000000000" pitchFamily="2" charset="0"/>
              </a:rPr>
              <a:t>employs</a:t>
            </a:r>
            <a:r>
              <a:rPr lang="de-DE" sz="2400" dirty="0">
                <a:latin typeface="Roboto" panose="02000000000000000000" pitchFamily="2" charset="0"/>
                <a:ea typeface="Roboto" panose="02000000000000000000" pitchFamily="2" charset="0"/>
              </a:rPr>
              <a:t> a </a:t>
            </a:r>
            <a:r>
              <a:rPr lang="de-DE" sz="2400" dirty="0" err="1">
                <a:latin typeface="Roboto" panose="02000000000000000000" pitchFamily="2" charset="0"/>
                <a:ea typeface="Roboto" panose="02000000000000000000" pitchFamily="2" charset="0"/>
              </a:rPr>
              <a:t>single</a:t>
            </a:r>
            <a:r>
              <a:rPr lang="de-DE" sz="2400" dirty="0">
                <a:latin typeface="Roboto" panose="02000000000000000000" pitchFamily="2" charset="0"/>
                <a:ea typeface="Roboto" panose="02000000000000000000" pitchFamily="2" charset="0"/>
              </a:rPr>
              <a:t> Rb</a:t>
            </a:r>
            <a:r>
              <a:rPr lang="de-DE" sz="2400" baseline="30000" dirty="0">
                <a:latin typeface="Roboto" panose="02000000000000000000" pitchFamily="2" charset="0"/>
                <a:ea typeface="Roboto" panose="02000000000000000000" pitchFamily="2" charset="0"/>
              </a:rPr>
              <a:t>87  </a:t>
            </a:r>
            <a:r>
              <a:rPr lang="de-DE" sz="2400" dirty="0" err="1">
                <a:latin typeface="Roboto" panose="02000000000000000000" pitchFamily="2" charset="0"/>
                <a:ea typeface="Roboto" panose="02000000000000000000" pitchFamily="2" charset="0"/>
              </a:rPr>
              <a:t>atom</a:t>
            </a:r>
            <a:r>
              <a:rPr lang="de-DE" sz="2400" dirty="0">
                <a:latin typeface="Roboto" panose="02000000000000000000" pitchFamily="2" charset="0"/>
                <a:ea typeface="Roboto" panose="02000000000000000000" pitchFamily="2" charset="0"/>
              </a:rPr>
              <a:t> </a:t>
            </a:r>
            <a:r>
              <a:rPr lang="de-DE" sz="2400" dirty="0" err="1">
                <a:latin typeface="Roboto" panose="02000000000000000000" pitchFamily="2" charset="0"/>
                <a:ea typeface="Roboto" panose="02000000000000000000" pitchFamily="2" charset="0"/>
              </a:rPr>
              <a:t>prepared</a:t>
            </a:r>
            <a:r>
              <a:rPr lang="de-DE" sz="2400" dirty="0">
                <a:latin typeface="Roboto" panose="02000000000000000000" pitchFamily="2" charset="0"/>
                <a:ea typeface="Roboto" panose="02000000000000000000" pitchFamily="2" charset="0"/>
              </a:rPr>
              <a:t> in a </a:t>
            </a:r>
            <a:r>
              <a:rPr lang="de-DE" sz="2400" dirty="0" err="1">
                <a:latin typeface="Roboto" panose="02000000000000000000" pitchFamily="2" charset="0"/>
                <a:ea typeface="Roboto" panose="02000000000000000000" pitchFamily="2" charset="0"/>
              </a:rPr>
              <a:t>magnetic-field-insensitive</a:t>
            </a:r>
            <a:r>
              <a:rPr lang="de-DE" sz="2400" dirty="0">
                <a:latin typeface="Roboto" panose="02000000000000000000" pitchFamily="2" charset="0"/>
                <a:ea typeface="Roboto" panose="02000000000000000000" pitchFamily="2" charset="0"/>
              </a:rPr>
              <a:t> </a:t>
            </a:r>
            <a:r>
              <a:rPr lang="de-DE" sz="2400" dirty="0" err="1">
                <a:latin typeface="Roboto" panose="02000000000000000000" pitchFamily="2" charset="0"/>
                <a:ea typeface="Roboto" panose="02000000000000000000" pitchFamily="2" charset="0"/>
              </a:rPr>
              <a:t>clock</a:t>
            </a:r>
            <a:r>
              <a:rPr lang="de-DE" sz="2400" dirty="0">
                <a:latin typeface="Roboto" panose="02000000000000000000" pitchFamily="2" charset="0"/>
                <a:ea typeface="Roboto" panose="02000000000000000000" pitchFamily="2" charset="0"/>
              </a:rPr>
              <a:t> </a:t>
            </a:r>
            <a:r>
              <a:rPr lang="de-DE" sz="2400" dirty="0" err="1">
                <a:latin typeface="Roboto" panose="02000000000000000000" pitchFamily="2" charset="0"/>
                <a:ea typeface="Roboto" panose="02000000000000000000" pitchFamily="2" charset="0"/>
              </a:rPr>
              <a:t>qubit</a:t>
            </a:r>
            <a:r>
              <a:rPr lang="de-DE" sz="2400" dirty="0">
                <a:latin typeface="Roboto" panose="02000000000000000000" pitchFamily="2" charset="0"/>
                <a:ea typeface="Roboto" panose="02000000000000000000" pitchFamily="2" charset="0"/>
              </a:rPr>
              <a:t> and </a:t>
            </a:r>
            <a:r>
              <a:rPr lang="de-DE" sz="2400" dirty="0" err="1">
                <a:latin typeface="Roboto" panose="02000000000000000000" pitchFamily="2" charset="0"/>
                <a:ea typeface="Roboto" panose="02000000000000000000" pitchFamily="2" charset="0"/>
              </a:rPr>
              <a:t>coupled</a:t>
            </a:r>
            <a:r>
              <a:rPr lang="de-DE" sz="2400" dirty="0">
                <a:latin typeface="Roboto" panose="02000000000000000000" pitchFamily="2" charset="0"/>
                <a:ea typeface="Roboto" panose="02000000000000000000" pitchFamily="2" charset="0"/>
              </a:rPr>
              <a:t> </a:t>
            </a:r>
            <a:r>
              <a:rPr lang="de-DE" sz="2400" dirty="0" err="1">
                <a:latin typeface="Roboto" panose="02000000000000000000" pitchFamily="2" charset="0"/>
                <a:ea typeface="Roboto" panose="02000000000000000000" pitchFamily="2" charset="0"/>
              </a:rPr>
              <a:t>to</a:t>
            </a:r>
            <a:r>
              <a:rPr lang="de-DE" sz="2400" dirty="0">
                <a:latin typeface="Roboto" panose="02000000000000000000" pitchFamily="2" charset="0"/>
                <a:ea typeface="Roboto" panose="02000000000000000000" pitchFamily="2" charset="0"/>
              </a:rPr>
              <a:t> a high-finesse </a:t>
            </a:r>
            <a:r>
              <a:rPr lang="de-DE" sz="2400" dirty="0" err="1">
                <a:latin typeface="Roboto" panose="02000000000000000000" pitchFamily="2" charset="0"/>
                <a:ea typeface="Roboto" panose="02000000000000000000" pitchFamily="2" charset="0"/>
              </a:rPr>
              <a:t>birefringent</a:t>
            </a:r>
            <a:r>
              <a:rPr lang="de-DE" sz="2400" dirty="0">
                <a:latin typeface="Roboto" panose="02000000000000000000" pitchFamily="2" charset="0"/>
                <a:ea typeface="Roboto" panose="02000000000000000000" pitchFamily="2" charset="0"/>
              </a:rPr>
              <a:t> Fabry-Perot </a:t>
            </a:r>
            <a:r>
              <a:rPr lang="de-DE" sz="2400" dirty="0" err="1">
                <a:latin typeface="Roboto" panose="02000000000000000000" pitchFamily="2" charset="0"/>
                <a:ea typeface="Roboto" panose="02000000000000000000" pitchFamily="2" charset="0"/>
              </a:rPr>
              <a:t>cavity</a:t>
            </a:r>
            <a:r>
              <a:rPr lang="de-DE" sz="2400" dirty="0">
                <a:latin typeface="Roboto" panose="02000000000000000000" pitchFamily="2" charset="0"/>
                <a:ea typeface="Roboto" panose="02000000000000000000" pitchFamily="2" charset="0"/>
              </a:rPr>
              <a:t>. The </a:t>
            </a:r>
            <a:r>
              <a:rPr lang="de-DE" sz="2400" dirty="0" err="1">
                <a:latin typeface="Roboto" panose="02000000000000000000" pitchFamily="2" charset="0"/>
                <a:ea typeface="Roboto" panose="02000000000000000000" pitchFamily="2" charset="0"/>
              </a:rPr>
              <a:t>cavity‘s</a:t>
            </a:r>
            <a:r>
              <a:rPr lang="de-DE" sz="2400" dirty="0">
                <a:latin typeface="Roboto" panose="02000000000000000000" pitchFamily="2" charset="0"/>
                <a:ea typeface="Roboto" panose="02000000000000000000" pitchFamily="2" charset="0"/>
              </a:rPr>
              <a:t> high </a:t>
            </a:r>
            <a:r>
              <a:rPr lang="de-DE" sz="2400" dirty="0" err="1">
                <a:latin typeface="Roboto" panose="02000000000000000000" pitchFamily="2" charset="0"/>
                <a:ea typeface="Roboto" panose="02000000000000000000" pitchFamily="2" charset="0"/>
              </a:rPr>
              <a:t>birefringence</a:t>
            </a:r>
            <a:r>
              <a:rPr lang="de-DE" sz="2400" dirty="0">
                <a:latin typeface="Roboto" panose="02000000000000000000" pitchFamily="2" charset="0"/>
                <a:ea typeface="Roboto" panose="02000000000000000000" pitchFamily="2" charset="0"/>
              </a:rPr>
              <a:t> </a:t>
            </a:r>
            <a:r>
              <a:rPr lang="de-DE" sz="2400" dirty="0" err="1">
                <a:latin typeface="Roboto" panose="02000000000000000000" pitchFamily="2" charset="0"/>
                <a:ea typeface="Roboto" panose="02000000000000000000" pitchFamily="2" charset="0"/>
              </a:rPr>
              <a:t>creates</a:t>
            </a:r>
            <a:r>
              <a:rPr lang="de-DE" sz="2400" dirty="0">
                <a:latin typeface="Roboto" panose="02000000000000000000" pitchFamily="2" charset="0"/>
                <a:ea typeface="Roboto" panose="02000000000000000000" pitchFamily="2" charset="0"/>
              </a:rPr>
              <a:t> </a:t>
            </a:r>
            <a:r>
              <a:rPr lang="de-DE" sz="2400" dirty="0" err="1">
                <a:latin typeface="Roboto" panose="02000000000000000000" pitchFamily="2" charset="0"/>
                <a:ea typeface="Roboto" panose="02000000000000000000" pitchFamily="2" charset="0"/>
              </a:rPr>
              <a:t>two</a:t>
            </a:r>
            <a:r>
              <a:rPr lang="de-DE" sz="2400" dirty="0">
                <a:latin typeface="Roboto" panose="02000000000000000000" pitchFamily="2" charset="0"/>
                <a:ea typeface="Roboto" panose="02000000000000000000" pitchFamily="2" charset="0"/>
              </a:rPr>
              <a:t> well-</a:t>
            </a:r>
            <a:r>
              <a:rPr lang="de-DE" sz="2400" dirty="0" err="1">
                <a:latin typeface="Roboto" panose="02000000000000000000" pitchFamily="2" charset="0"/>
                <a:ea typeface="Roboto" panose="02000000000000000000" pitchFamily="2" charset="0"/>
              </a:rPr>
              <a:t>separated</a:t>
            </a:r>
            <a:r>
              <a:rPr lang="de-DE" sz="2400" dirty="0">
                <a:latin typeface="Roboto" panose="02000000000000000000" pitchFamily="2" charset="0"/>
                <a:ea typeface="Roboto" panose="02000000000000000000" pitchFamily="2" charset="0"/>
              </a:rPr>
              <a:t> </a:t>
            </a:r>
            <a:r>
              <a:rPr lang="de-DE" sz="2400" dirty="0" err="1">
                <a:latin typeface="Roboto" panose="02000000000000000000" pitchFamily="2" charset="0"/>
                <a:ea typeface="Roboto" panose="02000000000000000000" pitchFamily="2" charset="0"/>
              </a:rPr>
              <a:t>polarization</a:t>
            </a:r>
            <a:r>
              <a:rPr lang="de-DE" sz="2400" dirty="0">
                <a:latin typeface="Roboto" panose="02000000000000000000" pitchFamily="2" charset="0"/>
                <a:ea typeface="Roboto" panose="02000000000000000000" pitchFamily="2" charset="0"/>
              </a:rPr>
              <a:t> </a:t>
            </a:r>
            <a:r>
              <a:rPr lang="de-DE" sz="2400" dirty="0" err="1">
                <a:latin typeface="Roboto" panose="02000000000000000000" pitchFamily="2" charset="0"/>
                <a:ea typeface="Roboto" panose="02000000000000000000" pitchFamily="2" charset="0"/>
              </a:rPr>
              <a:t>eigenmodes</a:t>
            </a:r>
            <a:r>
              <a:rPr lang="de-DE" sz="2400" dirty="0">
                <a:latin typeface="Roboto" panose="02000000000000000000" pitchFamily="2" charset="0"/>
                <a:ea typeface="Roboto" panose="02000000000000000000" pitchFamily="2" charset="0"/>
              </a:rPr>
              <a:t>, </a:t>
            </a:r>
            <a:r>
              <a:rPr lang="de-DE" sz="2400" dirty="0" err="1">
                <a:latin typeface="Roboto" panose="02000000000000000000" pitchFamily="2" charset="0"/>
                <a:ea typeface="Roboto" panose="02000000000000000000" pitchFamily="2" charset="0"/>
              </a:rPr>
              <a:t>enabling</a:t>
            </a:r>
            <a:r>
              <a:rPr lang="de-DE" sz="2400" dirty="0">
                <a:latin typeface="Roboto" panose="02000000000000000000" pitchFamily="2" charset="0"/>
                <a:ea typeface="Roboto" panose="02000000000000000000" pitchFamily="2" charset="0"/>
              </a:rPr>
              <a:t> </a:t>
            </a:r>
            <a:r>
              <a:rPr lang="de-DE" sz="2400" dirty="0" err="1">
                <a:latin typeface="Roboto" panose="02000000000000000000" pitchFamily="2" charset="0"/>
                <a:ea typeface="Roboto" panose="02000000000000000000" pitchFamily="2" charset="0"/>
              </a:rPr>
              <a:t>the</a:t>
            </a:r>
            <a:r>
              <a:rPr lang="de-DE" sz="2400" dirty="0">
                <a:latin typeface="Roboto" panose="02000000000000000000" pitchFamily="2" charset="0"/>
                <a:ea typeface="Roboto" panose="02000000000000000000" pitchFamily="2" charset="0"/>
              </a:rPr>
              <a:t> </a:t>
            </a:r>
            <a:r>
              <a:rPr lang="de-DE" sz="2400" dirty="0" err="1">
                <a:latin typeface="Roboto" panose="02000000000000000000" pitchFamily="2" charset="0"/>
                <a:ea typeface="Roboto" panose="02000000000000000000" pitchFamily="2" charset="0"/>
              </a:rPr>
              <a:t>polarization-selective</a:t>
            </a:r>
            <a:r>
              <a:rPr lang="de-DE" sz="2400" dirty="0">
                <a:latin typeface="Roboto" panose="02000000000000000000" pitchFamily="2" charset="0"/>
                <a:ea typeface="Roboto" panose="02000000000000000000" pitchFamily="2" charset="0"/>
              </a:rPr>
              <a:t> </a:t>
            </a:r>
            <a:r>
              <a:rPr lang="de-DE" sz="2400" dirty="0" err="1">
                <a:latin typeface="Roboto" panose="02000000000000000000" pitchFamily="2" charset="0"/>
                <a:ea typeface="Roboto" panose="02000000000000000000" pitchFamily="2" charset="0"/>
              </a:rPr>
              <a:t>reflectivity</a:t>
            </a:r>
            <a:r>
              <a:rPr lang="de-DE" sz="2400" dirty="0">
                <a:latin typeface="Roboto" panose="02000000000000000000" pitchFamily="2" charset="0"/>
                <a:ea typeface="Roboto" panose="02000000000000000000" pitchFamily="2" charset="0"/>
              </a:rPr>
              <a:t> </a:t>
            </a:r>
            <a:r>
              <a:rPr lang="de-DE" sz="2400" dirty="0" err="1">
                <a:latin typeface="Roboto" panose="02000000000000000000" pitchFamily="2" charset="0"/>
                <a:ea typeface="Roboto" panose="02000000000000000000" pitchFamily="2" charset="0"/>
              </a:rPr>
              <a:t>that</a:t>
            </a:r>
            <a:r>
              <a:rPr lang="de-DE" sz="2400" dirty="0">
                <a:latin typeface="Roboto" panose="02000000000000000000" pitchFamily="2" charset="0"/>
                <a:ea typeface="Roboto" panose="02000000000000000000" pitchFamily="2" charset="0"/>
              </a:rPr>
              <a:t> </a:t>
            </a:r>
            <a:r>
              <a:rPr lang="de-DE" sz="2400" dirty="0" err="1">
                <a:latin typeface="Roboto" panose="02000000000000000000" pitchFamily="2" charset="0"/>
                <a:ea typeface="Roboto" panose="02000000000000000000" pitchFamily="2" charset="0"/>
              </a:rPr>
              <a:t>depends</a:t>
            </a:r>
            <a:r>
              <a:rPr lang="de-DE" sz="2400" dirty="0">
                <a:latin typeface="Roboto" panose="02000000000000000000" pitchFamily="2" charset="0"/>
                <a:ea typeface="Roboto" panose="02000000000000000000" pitchFamily="2" charset="0"/>
              </a:rPr>
              <a:t> on </a:t>
            </a:r>
            <a:r>
              <a:rPr lang="de-DE" sz="2400" dirty="0" err="1">
                <a:latin typeface="Roboto" panose="02000000000000000000" pitchFamily="2" charset="0"/>
                <a:ea typeface="Roboto" panose="02000000000000000000" pitchFamily="2" charset="0"/>
              </a:rPr>
              <a:t>the</a:t>
            </a:r>
            <a:r>
              <a:rPr lang="de-DE" sz="2400" dirty="0">
                <a:latin typeface="Roboto" panose="02000000000000000000" pitchFamily="2" charset="0"/>
                <a:ea typeface="Roboto" panose="02000000000000000000" pitchFamily="2" charset="0"/>
              </a:rPr>
              <a:t> </a:t>
            </a:r>
            <a:r>
              <a:rPr lang="de-DE" sz="2400" dirty="0" err="1">
                <a:latin typeface="Roboto" panose="02000000000000000000" pitchFamily="2" charset="0"/>
                <a:ea typeface="Roboto" panose="02000000000000000000" pitchFamily="2" charset="0"/>
              </a:rPr>
              <a:t>atomic</a:t>
            </a:r>
            <a:r>
              <a:rPr lang="de-DE" sz="2400" dirty="0">
                <a:latin typeface="Roboto" panose="02000000000000000000" pitchFamily="2" charset="0"/>
                <a:ea typeface="Roboto" panose="02000000000000000000" pitchFamily="2" charset="0"/>
              </a:rPr>
              <a:t> </a:t>
            </a:r>
            <a:r>
              <a:rPr lang="de-DE" sz="2400" dirty="0" err="1">
                <a:latin typeface="Roboto" panose="02000000000000000000" pitchFamily="2" charset="0"/>
                <a:ea typeface="Roboto" panose="02000000000000000000" pitchFamily="2" charset="0"/>
              </a:rPr>
              <a:t>qubit</a:t>
            </a:r>
            <a:r>
              <a:rPr lang="de-DE" sz="2400" dirty="0">
                <a:latin typeface="Roboto" panose="02000000000000000000" pitchFamily="2" charset="0"/>
                <a:ea typeface="Roboto" panose="02000000000000000000" pitchFamily="2" charset="0"/>
              </a:rPr>
              <a:t> </a:t>
            </a:r>
            <a:r>
              <a:rPr lang="de-DE" sz="2400" dirty="0" err="1">
                <a:latin typeface="Roboto" panose="02000000000000000000" pitchFamily="2" charset="0"/>
                <a:ea typeface="Roboto" panose="02000000000000000000" pitchFamily="2" charset="0"/>
              </a:rPr>
              <a:t>state</a:t>
            </a:r>
            <a:r>
              <a:rPr lang="de-DE" sz="2400" dirty="0">
                <a:latin typeface="Roboto" panose="02000000000000000000" pitchFamily="2" charset="0"/>
                <a:ea typeface="Roboto" panose="02000000000000000000" pitchFamily="2" charset="0"/>
              </a:rPr>
              <a:t>. This </a:t>
            </a:r>
            <a:r>
              <a:rPr lang="de-DE" sz="2400" dirty="0" err="1">
                <a:latin typeface="Roboto" panose="02000000000000000000" pitchFamily="2" charset="0"/>
                <a:ea typeface="Roboto" panose="02000000000000000000" pitchFamily="2" charset="0"/>
              </a:rPr>
              <a:t>allows</a:t>
            </a:r>
            <a:r>
              <a:rPr lang="de-DE" sz="2400" dirty="0">
                <a:latin typeface="Roboto" panose="02000000000000000000" pitchFamily="2" charset="0"/>
                <a:ea typeface="Roboto" panose="02000000000000000000" pitchFamily="2" charset="0"/>
              </a:rPr>
              <a:t> </a:t>
            </a:r>
            <a:r>
              <a:rPr lang="de-DE" sz="2400" dirty="0" err="1">
                <a:latin typeface="Roboto" panose="02000000000000000000" pitchFamily="2" charset="0"/>
                <a:ea typeface="Roboto" panose="02000000000000000000" pitchFamily="2" charset="0"/>
              </a:rPr>
              <a:t>the</a:t>
            </a:r>
            <a:r>
              <a:rPr lang="de-DE" sz="2400" dirty="0">
                <a:latin typeface="Roboto" panose="02000000000000000000" pitchFamily="2" charset="0"/>
                <a:ea typeface="Roboto" panose="02000000000000000000" pitchFamily="2" charset="0"/>
              </a:rPr>
              <a:t> </a:t>
            </a:r>
            <a:r>
              <a:rPr lang="de-DE" sz="2400" dirty="0" err="1">
                <a:latin typeface="Roboto" panose="02000000000000000000" pitchFamily="2" charset="0"/>
                <a:ea typeface="Roboto" panose="02000000000000000000" pitchFamily="2" charset="0"/>
              </a:rPr>
              <a:t>use</a:t>
            </a:r>
            <a:r>
              <a:rPr lang="de-DE" sz="2400" dirty="0">
                <a:latin typeface="Roboto" panose="02000000000000000000" pitchFamily="2" charset="0"/>
                <a:ea typeface="Roboto" panose="02000000000000000000" pitchFamily="2" charset="0"/>
              </a:rPr>
              <a:t> </a:t>
            </a:r>
            <a:r>
              <a:rPr lang="de-DE" sz="2400" dirty="0" err="1">
                <a:latin typeface="Roboto" panose="02000000000000000000" pitchFamily="2" charset="0"/>
                <a:ea typeface="Roboto" panose="02000000000000000000" pitchFamily="2" charset="0"/>
              </a:rPr>
              <a:t>of</a:t>
            </a:r>
            <a:r>
              <a:rPr lang="de-DE" sz="2400" dirty="0">
                <a:latin typeface="Roboto" panose="02000000000000000000" pitchFamily="2" charset="0"/>
                <a:ea typeface="Roboto" panose="02000000000000000000" pitchFamily="2" charset="0"/>
              </a:rPr>
              <a:t> </a:t>
            </a:r>
            <a:r>
              <a:rPr lang="de-DE" sz="2400" dirty="0" err="1">
                <a:latin typeface="Roboto" panose="02000000000000000000" pitchFamily="2" charset="0"/>
                <a:ea typeface="Roboto" panose="02000000000000000000" pitchFamily="2" charset="0"/>
              </a:rPr>
              <a:t>clock</a:t>
            </a:r>
            <a:r>
              <a:rPr lang="de-DE" sz="2400" dirty="0">
                <a:latin typeface="Roboto" panose="02000000000000000000" pitchFamily="2" charset="0"/>
                <a:ea typeface="Roboto" panose="02000000000000000000" pitchFamily="2" charset="0"/>
              </a:rPr>
              <a:t> </a:t>
            </a:r>
            <a:r>
              <a:rPr lang="de-DE" sz="2400" dirty="0" err="1">
                <a:latin typeface="Roboto" panose="02000000000000000000" pitchFamily="2" charset="0"/>
                <a:ea typeface="Roboto" panose="02000000000000000000" pitchFamily="2" charset="0"/>
              </a:rPr>
              <a:t>states</a:t>
            </a:r>
            <a:r>
              <a:rPr lang="de-DE" sz="2400" dirty="0">
                <a:latin typeface="Roboto" panose="02000000000000000000" pitchFamily="2" charset="0"/>
                <a:ea typeface="Roboto" panose="02000000000000000000" pitchFamily="2" charset="0"/>
              </a:rPr>
              <a:t> </a:t>
            </a:r>
            <a:r>
              <a:rPr lang="de-DE" sz="2400" dirty="0" err="1">
                <a:latin typeface="Roboto" panose="02000000000000000000" pitchFamily="2" charset="0"/>
                <a:ea typeface="Roboto" panose="02000000000000000000" pitchFamily="2" charset="0"/>
              </a:rPr>
              <a:t>while</a:t>
            </a:r>
            <a:r>
              <a:rPr lang="de-DE" sz="2400" dirty="0">
                <a:latin typeface="Roboto" panose="02000000000000000000" pitchFamily="2" charset="0"/>
                <a:ea typeface="Roboto" panose="02000000000000000000" pitchFamily="2" charset="0"/>
              </a:rPr>
              <a:t> </a:t>
            </a:r>
            <a:r>
              <a:rPr lang="de-DE" sz="2400" dirty="0" err="1">
                <a:latin typeface="Roboto" panose="02000000000000000000" pitchFamily="2" charset="0"/>
                <a:ea typeface="Roboto" panose="02000000000000000000" pitchFamily="2" charset="0"/>
              </a:rPr>
              <a:t>maintaining</a:t>
            </a:r>
            <a:r>
              <a:rPr lang="de-DE" sz="2400" dirty="0">
                <a:latin typeface="Roboto" panose="02000000000000000000" pitchFamily="2" charset="0"/>
                <a:ea typeface="Roboto" panose="02000000000000000000" pitchFamily="2" charset="0"/>
              </a:rPr>
              <a:t> strong </a:t>
            </a:r>
            <a:r>
              <a:rPr lang="de-DE" sz="2400" dirty="0" err="1">
                <a:latin typeface="Roboto" panose="02000000000000000000" pitchFamily="2" charset="0"/>
                <a:ea typeface="Roboto" panose="02000000000000000000" pitchFamily="2" charset="0"/>
              </a:rPr>
              <a:t>polarization</a:t>
            </a:r>
            <a:r>
              <a:rPr lang="de-DE" sz="2400" dirty="0">
                <a:latin typeface="Roboto" panose="02000000000000000000" pitchFamily="2" charset="0"/>
                <a:ea typeface="Roboto" panose="02000000000000000000" pitchFamily="2" charset="0"/>
              </a:rPr>
              <a:t> </a:t>
            </a:r>
            <a:r>
              <a:rPr lang="de-DE" sz="2400" dirty="0" err="1">
                <a:latin typeface="Roboto" panose="02000000000000000000" pitchFamily="2" charset="0"/>
                <a:ea typeface="Roboto" panose="02000000000000000000" pitchFamily="2" charset="0"/>
              </a:rPr>
              <a:t>separation</a:t>
            </a:r>
            <a:r>
              <a:rPr lang="de-DE" sz="2400" dirty="0">
                <a:latin typeface="Roboto" panose="02000000000000000000" pitchFamily="2" charset="0"/>
                <a:ea typeface="Roboto" panose="02000000000000000000" pitchFamily="2" charset="0"/>
              </a:rPr>
              <a:t>. </a:t>
            </a:r>
            <a:r>
              <a:rPr lang="de-DE" sz="2400" dirty="0" err="1">
                <a:latin typeface="Roboto" panose="02000000000000000000" pitchFamily="2" charset="0"/>
                <a:ea typeface="Roboto" panose="02000000000000000000" pitchFamily="2" charset="0"/>
              </a:rPr>
              <a:t>We</a:t>
            </a:r>
            <a:r>
              <a:rPr lang="de-DE" sz="2400" dirty="0">
                <a:latin typeface="Roboto" panose="02000000000000000000" pitchFamily="2" charset="0"/>
                <a:ea typeface="Roboto" panose="02000000000000000000" pitchFamily="2" charset="0"/>
              </a:rPr>
              <a:t> </a:t>
            </a:r>
            <a:r>
              <a:rPr lang="de-DE" sz="2400" dirty="0" err="1">
                <a:latin typeface="Roboto" panose="02000000000000000000" pitchFamily="2" charset="0"/>
                <a:ea typeface="Roboto" panose="02000000000000000000" pitchFamily="2" charset="0"/>
              </a:rPr>
              <a:t>present</a:t>
            </a:r>
            <a:r>
              <a:rPr lang="de-DE" sz="2400" dirty="0">
                <a:latin typeface="Roboto" panose="02000000000000000000" pitchFamily="2" charset="0"/>
                <a:ea typeface="Roboto" panose="02000000000000000000" pitchFamily="2" charset="0"/>
              </a:rPr>
              <a:t> </a:t>
            </a:r>
            <a:r>
              <a:rPr lang="de-DE" sz="2400" dirty="0" err="1">
                <a:latin typeface="Roboto" panose="02000000000000000000" pitchFamily="2" charset="0"/>
                <a:ea typeface="Roboto" panose="02000000000000000000" pitchFamily="2" charset="0"/>
              </a:rPr>
              <a:t>ongoing</a:t>
            </a:r>
            <a:r>
              <a:rPr lang="de-DE" sz="2400" dirty="0">
                <a:latin typeface="Roboto" panose="02000000000000000000" pitchFamily="2" charset="0"/>
                <a:ea typeface="Roboto" panose="02000000000000000000" pitchFamily="2" charset="0"/>
              </a:rPr>
              <a:t> experimental </a:t>
            </a:r>
            <a:r>
              <a:rPr lang="de-DE" sz="2400" dirty="0" err="1">
                <a:latin typeface="Roboto" panose="02000000000000000000" pitchFamily="2" charset="0"/>
                <a:ea typeface="Roboto" panose="02000000000000000000" pitchFamily="2" charset="0"/>
              </a:rPr>
              <a:t>progress</a:t>
            </a:r>
            <a:r>
              <a:rPr lang="de-DE" sz="2400" dirty="0">
                <a:latin typeface="Roboto" panose="02000000000000000000" pitchFamily="2" charset="0"/>
                <a:ea typeface="Roboto" panose="02000000000000000000" pitchFamily="2" charset="0"/>
              </a:rPr>
              <a:t> </a:t>
            </a:r>
            <a:r>
              <a:rPr lang="de-DE" sz="2400" dirty="0" err="1">
                <a:latin typeface="Roboto" panose="02000000000000000000" pitchFamily="2" charset="0"/>
                <a:ea typeface="Roboto" panose="02000000000000000000" pitchFamily="2" charset="0"/>
              </a:rPr>
              <a:t>towards</a:t>
            </a:r>
            <a:r>
              <a:rPr lang="de-DE" sz="2400" dirty="0">
                <a:latin typeface="Roboto" panose="02000000000000000000" pitchFamily="2" charset="0"/>
                <a:ea typeface="Roboto" panose="02000000000000000000" pitchFamily="2" charset="0"/>
              </a:rPr>
              <a:t> </a:t>
            </a:r>
            <a:r>
              <a:rPr lang="de-DE" sz="2400" dirty="0" err="1">
                <a:latin typeface="Roboto" panose="02000000000000000000" pitchFamily="2" charset="0"/>
                <a:ea typeface="Roboto" panose="02000000000000000000" pitchFamily="2" charset="0"/>
              </a:rPr>
              <a:t>implementing</a:t>
            </a:r>
            <a:r>
              <a:rPr lang="de-DE" sz="2400" dirty="0">
                <a:latin typeface="Roboto" panose="02000000000000000000" pitchFamily="2" charset="0"/>
                <a:ea typeface="Roboto" panose="02000000000000000000" pitchFamily="2" charset="0"/>
              </a:rPr>
              <a:t> </a:t>
            </a:r>
            <a:r>
              <a:rPr lang="de-DE" sz="2400" dirty="0" err="1">
                <a:latin typeface="Roboto" panose="02000000000000000000" pitchFamily="2" charset="0"/>
                <a:ea typeface="Roboto" panose="02000000000000000000" pitchFamily="2" charset="0"/>
              </a:rPr>
              <a:t>the</a:t>
            </a:r>
            <a:r>
              <a:rPr lang="de-DE" sz="2400" dirty="0">
                <a:latin typeface="Roboto" panose="02000000000000000000" pitchFamily="2" charset="0"/>
                <a:ea typeface="Roboto" panose="02000000000000000000" pitchFamily="2" charset="0"/>
              </a:rPr>
              <a:t> </a:t>
            </a:r>
            <a:r>
              <a:rPr lang="de-DE" sz="2400" dirty="0" err="1">
                <a:latin typeface="Roboto" panose="02000000000000000000" pitchFamily="2" charset="0"/>
                <a:ea typeface="Roboto" panose="02000000000000000000" pitchFamily="2" charset="0"/>
              </a:rPr>
              <a:t>gate</a:t>
            </a:r>
            <a:r>
              <a:rPr lang="de-DE" sz="2400" dirty="0">
                <a:latin typeface="Roboto" panose="02000000000000000000" pitchFamily="2" charset="0"/>
                <a:ea typeface="Roboto" panose="02000000000000000000" pitchFamily="2" charset="0"/>
              </a:rPr>
              <a:t> </a:t>
            </a:r>
            <a:r>
              <a:rPr lang="de-DE" sz="2400" dirty="0" err="1">
                <a:latin typeface="Roboto" panose="02000000000000000000" pitchFamily="2" charset="0"/>
                <a:ea typeface="Roboto" panose="02000000000000000000" pitchFamily="2" charset="0"/>
              </a:rPr>
              <a:t>as</a:t>
            </a:r>
            <a:r>
              <a:rPr lang="de-DE" sz="2400" dirty="0">
                <a:latin typeface="Roboto" panose="02000000000000000000" pitchFamily="2" charset="0"/>
                <a:ea typeface="Roboto" panose="02000000000000000000" pitchFamily="2" charset="0"/>
              </a:rPr>
              <a:t> </a:t>
            </a:r>
            <a:r>
              <a:rPr lang="de-DE" sz="2400" dirty="0" err="1">
                <a:latin typeface="Roboto" panose="02000000000000000000" pitchFamily="2" charset="0"/>
                <a:ea typeface="Roboto" panose="02000000000000000000" pitchFamily="2" charset="0"/>
              </a:rPr>
              <a:t>well</a:t>
            </a:r>
            <a:r>
              <a:rPr lang="de-DE" sz="2400" dirty="0">
                <a:latin typeface="Roboto" panose="02000000000000000000" pitchFamily="2" charset="0"/>
                <a:ea typeface="Roboto" panose="02000000000000000000" pitchFamily="2" charset="0"/>
              </a:rPr>
              <a:t> </a:t>
            </a:r>
            <a:r>
              <a:rPr lang="de-DE" sz="2400" dirty="0" err="1">
                <a:latin typeface="Roboto" panose="02000000000000000000" pitchFamily="2" charset="0"/>
                <a:ea typeface="Roboto" panose="02000000000000000000" pitchFamily="2" charset="0"/>
              </a:rPr>
              <a:t>as</a:t>
            </a:r>
            <a:r>
              <a:rPr lang="de-DE" sz="2400" dirty="0">
                <a:latin typeface="Roboto" panose="02000000000000000000" pitchFamily="2" charset="0"/>
                <a:ea typeface="Roboto" panose="02000000000000000000" pitchFamily="2" charset="0"/>
              </a:rPr>
              <a:t> </a:t>
            </a:r>
            <a:r>
              <a:rPr lang="de-DE" sz="2400" dirty="0" err="1">
                <a:latin typeface="Roboto" panose="02000000000000000000" pitchFamily="2" charset="0"/>
                <a:ea typeface="Roboto" panose="02000000000000000000" pitchFamily="2" charset="0"/>
              </a:rPr>
              <a:t>simulations</a:t>
            </a:r>
            <a:r>
              <a:rPr lang="de-DE" sz="2400" dirty="0">
                <a:latin typeface="Roboto" panose="02000000000000000000" pitchFamily="2" charset="0"/>
                <a:ea typeface="Roboto" panose="02000000000000000000" pitchFamily="2" charset="0"/>
              </a:rPr>
              <a:t> </a:t>
            </a:r>
            <a:r>
              <a:rPr lang="de-DE" sz="2400" dirty="0" err="1">
                <a:latin typeface="Roboto" panose="02000000000000000000" pitchFamily="2" charset="0"/>
                <a:ea typeface="Roboto" panose="02000000000000000000" pitchFamily="2" charset="0"/>
              </a:rPr>
              <a:t>based</a:t>
            </a:r>
            <a:r>
              <a:rPr lang="de-DE" sz="2400" dirty="0">
                <a:latin typeface="Roboto" panose="02000000000000000000" pitchFamily="2" charset="0"/>
                <a:ea typeface="Roboto" panose="02000000000000000000" pitchFamily="2" charset="0"/>
              </a:rPr>
              <a:t> on input-output </a:t>
            </a:r>
            <a:r>
              <a:rPr lang="de-DE" sz="2400" dirty="0" err="1">
                <a:latin typeface="Roboto" panose="02000000000000000000" pitchFamily="2" charset="0"/>
                <a:ea typeface="Roboto" panose="02000000000000000000" pitchFamily="2" charset="0"/>
              </a:rPr>
              <a:t>theory</a:t>
            </a:r>
            <a:r>
              <a:rPr lang="de-DE" sz="2400" dirty="0">
                <a:latin typeface="Roboto" panose="02000000000000000000" pitchFamily="2" charset="0"/>
                <a:ea typeface="Roboto" panose="02000000000000000000" pitchFamily="2" charset="0"/>
              </a:rPr>
              <a:t>.</a:t>
            </a:r>
            <a:endParaRPr lang="de-DE" sz="2400" baseline="30000" dirty="0">
              <a:latin typeface="Roboto" panose="02000000000000000000" pitchFamily="2" charset="0"/>
              <a:ea typeface="Roboto" panose="02000000000000000000" pitchFamily="2" charset="0"/>
            </a:endParaRPr>
          </a:p>
        </p:txBody>
      </p:sp>
      <p:sp>
        <p:nvSpPr>
          <p:cNvPr id="76" name="Textfeld 75">
            <a:extLst>
              <a:ext uri="{FF2B5EF4-FFF2-40B4-BE49-F238E27FC236}">
                <a16:creationId xmlns:a16="http://schemas.microsoft.com/office/drawing/2014/main" id="{C2632D41-627B-4813-B754-4AB1536369A2}"/>
              </a:ext>
            </a:extLst>
          </p:cNvPr>
          <p:cNvSpPr txBox="1"/>
          <p:nvPr/>
        </p:nvSpPr>
        <p:spPr>
          <a:xfrm>
            <a:off x="18551894" y="8547645"/>
            <a:ext cx="6562464" cy="3785652"/>
          </a:xfrm>
          <a:prstGeom prst="rect">
            <a:avLst/>
          </a:prstGeom>
          <a:noFill/>
        </p:spPr>
        <p:txBody>
          <a:bodyPr wrap="square" rtlCol="0">
            <a:spAutoFit/>
          </a:bodyPr>
          <a:lstStyle/>
          <a:p>
            <a:pPr>
              <a:lnSpc>
                <a:spcPct val="150000"/>
              </a:lnSpc>
            </a:pPr>
            <a:r>
              <a:rPr lang="en-AU" sz="2000" dirty="0">
                <a:latin typeface="Roboto" panose="02000000000000000000" pitchFamily="2" charset="0"/>
                <a:ea typeface="Roboto" panose="02000000000000000000" pitchFamily="2" charset="0"/>
              </a:rPr>
              <a:t>Single atoms can be used…</a:t>
            </a:r>
          </a:p>
          <a:p>
            <a:pPr>
              <a:lnSpc>
                <a:spcPct val="150000"/>
              </a:lnSpc>
            </a:pPr>
            <a:endParaRPr lang="en-AU" sz="400" dirty="0">
              <a:latin typeface="Roboto" panose="02000000000000000000" pitchFamily="2" charset="0"/>
              <a:ea typeface="Roboto" panose="02000000000000000000" pitchFamily="2" charset="0"/>
            </a:endParaRPr>
          </a:p>
          <a:p>
            <a:pPr marL="342900" indent="-342900">
              <a:lnSpc>
                <a:spcPct val="150000"/>
              </a:lnSpc>
              <a:buFont typeface="Arial" panose="020B0604020202020204" pitchFamily="34" charset="0"/>
              <a:buChar char="•"/>
            </a:pPr>
            <a:r>
              <a:rPr lang="en-AU" sz="2000" dirty="0">
                <a:latin typeface="Roboto" panose="02000000000000000000" pitchFamily="2" charset="0"/>
                <a:ea typeface="Roboto" panose="02000000000000000000" pitchFamily="2" charset="0"/>
              </a:rPr>
              <a:t>… for the generation of atom-photon-entanglement [1]</a:t>
            </a:r>
          </a:p>
          <a:p>
            <a:pPr marL="342900" indent="-342900">
              <a:lnSpc>
                <a:spcPct val="150000"/>
              </a:lnSpc>
              <a:buFont typeface="Arial" panose="020B0604020202020204" pitchFamily="34" charset="0"/>
              <a:buChar char="•"/>
            </a:pPr>
            <a:r>
              <a:rPr lang="en-AU" sz="2000" dirty="0">
                <a:latin typeface="Roboto" panose="02000000000000000000" pitchFamily="2" charset="0"/>
                <a:ea typeface="Roboto" panose="02000000000000000000" pitchFamily="2" charset="0"/>
              </a:rPr>
              <a:t>… as quantum memories [2]</a:t>
            </a:r>
          </a:p>
          <a:p>
            <a:pPr marL="342900" indent="-342900">
              <a:lnSpc>
                <a:spcPct val="150000"/>
              </a:lnSpc>
              <a:buFont typeface="Arial" panose="020B0604020202020204" pitchFamily="34" charset="0"/>
              <a:buChar char="•"/>
            </a:pPr>
            <a:r>
              <a:rPr lang="en-AU" sz="2000" dirty="0">
                <a:latin typeface="Roboto" panose="02000000000000000000" pitchFamily="2" charset="0"/>
                <a:ea typeface="Roboto" panose="02000000000000000000" pitchFamily="2" charset="0"/>
              </a:rPr>
              <a:t>… as quantum repeaters [3]</a:t>
            </a:r>
          </a:p>
          <a:p>
            <a:pPr marL="342900" indent="-342900">
              <a:lnSpc>
                <a:spcPct val="150000"/>
              </a:lnSpc>
              <a:buFont typeface="Arial" panose="020B0604020202020204" pitchFamily="34" charset="0"/>
              <a:buChar char="•"/>
            </a:pPr>
            <a:r>
              <a:rPr lang="en-AU" sz="2000" dirty="0">
                <a:latin typeface="Roboto" panose="02000000000000000000" pitchFamily="2" charset="0"/>
                <a:ea typeface="Roboto" panose="02000000000000000000" pitchFamily="2" charset="0"/>
              </a:rPr>
              <a:t>… for quantum gates [4]</a:t>
            </a:r>
          </a:p>
          <a:p>
            <a:pPr marL="342900" indent="-342900">
              <a:lnSpc>
                <a:spcPct val="150000"/>
              </a:lnSpc>
              <a:buFont typeface="Arial" panose="020B0604020202020204" pitchFamily="34" charset="0"/>
              <a:buChar char="•"/>
            </a:pPr>
            <a:r>
              <a:rPr lang="en-AU" sz="2000" dirty="0">
                <a:latin typeface="Roboto" panose="02000000000000000000" pitchFamily="2" charset="0"/>
                <a:ea typeface="Roboto" panose="02000000000000000000" pitchFamily="2" charset="0"/>
              </a:rPr>
              <a:t>… for remote atom-atom entanglement [5]</a:t>
            </a:r>
          </a:p>
          <a:p>
            <a:pPr marL="342900" indent="-342900">
              <a:lnSpc>
                <a:spcPct val="150000"/>
              </a:lnSpc>
              <a:buFont typeface="Arial" panose="020B0604020202020204" pitchFamily="34" charset="0"/>
              <a:buChar char="•"/>
            </a:pPr>
            <a:r>
              <a:rPr lang="en-AU" sz="2000" dirty="0">
                <a:latin typeface="Roboto" panose="02000000000000000000" pitchFamily="2" charset="0"/>
                <a:ea typeface="Roboto" panose="02000000000000000000" pitchFamily="2" charset="0"/>
              </a:rPr>
              <a:t>… for teleportation between quantum memories [6]</a:t>
            </a:r>
          </a:p>
          <a:p>
            <a:pPr marL="342900" indent="-342900">
              <a:lnSpc>
                <a:spcPct val="150000"/>
              </a:lnSpc>
              <a:buFont typeface="Arial" panose="020B0604020202020204" pitchFamily="34" charset="0"/>
              <a:buChar char="•"/>
            </a:pPr>
            <a:r>
              <a:rPr lang="de-DE" dirty="0">
                <a:latin typeface="Roboto" panose="02000000000000000000" pitchFamily="2" charset="0"/>
                <a:ea typeface="Roboto" panose="02000000000000000000" pitchFamily="2" charset="0"/>
              </a:rPr>
              <a:t>…</a:t>
            </a:r>
            <a:endParaRPr lang="de-DE" sz="2400" dirty="0">
              <a:latin typeface="Roboto" panose="02000000000000000000" pitchFamily="2" charset="0"/>
              <a:ea typeface="Roboto" panose="02000000000000000000" pitchFamily="2" charset="0"/>
            </a:endParaRPr>
          </a:p>
        </p:txBody>
      </p:sp>
      <p:pic>
        <p:nvPicPr>
          <p:cNvPr id="78" name="Picture 9" descr="Picture 9">
            <a:extLst>
              <a:ext uri="{FF2B5EF4-FFF2-40B4-BE49-F238E27FC236}">
                <a16:creationId xmlns:a16="http://schemas.microsoft.com/office/drawing/2014/main" id="{568CAF4B-DB10-47CD-8249-21CCF60529D2}"/>
              </a:ext>
            </a:extLst>
          </p:cNvPr>
          <p:cNvPicPr>
            <a:picLocks noChangeAspect="1"/>
          </p:cNvPicPr>
          <p:nvPr/>
        </p:nvPicPr>
        <p:blipFill>
          <a:blip r:embed="rId2"/>
          <a:stretch>
            <a:fillRect/>
          </a:stretch>
        </p:blipFill>
        <p:spPr>
          <a:xfrm>
            <a:off x="26726951" y="40946697"/>
            <a:ext cx="2528158" cy="1304195"/>
          </a:xfrm>
          <a:prstGeom prst="rect">
            <a:avLst/>
          </a:prstGeom>
          <a:ln w="12700">
            <a:miter lim="400000"/>
          </a:ln>
        </p:spPr>
      </p:pic>
      <p:pic>
        <p:nvPicPr>
          <p:cNvPr id="87" name="Picture 314" descr="Picture 314">
            <a:extLst>
              <a:ext uri="{FF2B5EF4-FFF2-40B4-BE49-F238E27FC236}">
                <a16:creationId xmlns:a16="http://schemas.microsoft.com/office/drawing/2014/main" id="{3E4E9CD9-90D3-4A25-A842-EB50F0B04B5B}"/>
              </a:ext>
            </a:extLst>
          </p:cNvPr>
          <p:cNvPicPr>
            <a:picLocks noChangeAspect="1"/>
          </p:cNvPicPr>
          <p:nvPr/>
        </p:nvPicPr>
        <p:blipFill>
          <a:blip r:embed="rId3"/>
          <a:stretch>
            <a:fillRect/>
          </a:stretch>
        </p:blipFill>
        <p:spPr>
          <a:xfrm>
            <a:off x="23461603" y="40800998"/>
            <a:ext cx="2598540" cy="1467662"/>
          </a:xfrm>
          <a:prstGeom prst="rect">
            <a:avLst/>
          </a:prstGeom>
          <a:ln w="12700">
            <a:miter lim="400000"/>
          </a:ln>
        </p:spPr>
      </p:pic>
      <p:grpSp>
        <p:nvGrpSpPr>
          <p:cNvPr id="17" name="Gruppieren 16">
            <a:extLst>
              <a:ext uri="{FF2B5EF4-FFF2-40B4-BE49-F238E27FC236}">
                <a16:creationId xmlns:a16="http://schemas.microsoft.com/office/drawing/2014/main" id="{53DB6DEF-FEA2-47FA-8719-3D8B6D2EEE2B}"/>
              </a:ext>
            </a:extLst>
          </p:cNvPr>
          <p:cNvGrpSpPr/>
          <p:nvPr/>
        </p:nvGrpSpPr>
        <p:grpSpPr>
          <a:xfrm>
            <a:off x="24560937" y="9542785"/>
            <a:ext cx="4837005" cy="2461297"/>
            <a:chOff x="19057969" y="15203152"/>
            <a:chExt cx="5656231" cy="2873379"/>
          </a:xfrm>
        </p:grpSpPr>
        <p:pic>
          <p:nvPicPr>
            <p:cNvPr id="50" name="Grafik 49">
              <a:extLst>
                <a:ext uri="{FF2B5EF4-FFF2-40B4-BE49-F238E27FC236}">
                  <a16:creationId xmlns:a16="http://schemas.microsoft.com/office/drawing/2014/main" id="{8DF34AE3-D4F4-43F9-823B-77CE5D9078D2}"/>
                </a:ext>
              </a:extLst>
            </p:cNvPr>
            <p:cNvPicPr>
              <a:picLocks noChangeAspect="1"/>
            </p:cNvPicPr>
            <p:nvPr/>
          </p:nvPicPr>
          <p:blipFill rotWithShape="1">
            <a:blip r:embed="rId4">
              <a:extLst>
                <a:ext uri="{96DAC541-7B7A-43D3-8B79-37D633B846F1}">
                  <asvg:svgBlip xmlns:asvg="http://schemas.microsoft.com/office/drawing/2016/SVG/main" r:embed="rId5"/>
                </a:ext>
              </a:extLst>
            </a:blip>
            <a:srcRect r="40191"/>
            <a:stretch/>
          </p:blipFill>
          <p:spPr>
            <a:xfrm>
              <a:off x="19057969" y="15203152"/>
              <a:ext cx="5656231" cy="2658089"/>
            </a:xfrm>
            <a:prstGeom prst="rect">
              <a:avLst/>
            </a:prstGeom>
          </p:spPr>
        </p:pic>
        <mc:AlternateContent xmlns:mc="http://schemas.openxmlformats.org/markup-compatibility/2006" xmlns:a14="http://schemas.microsoft.com/office/drawing/2010/main">
          <mc:Choice Requires="a14">
            <p:sp>
              <p:nvSpPr>
                <p:cNvPr id="52" name="Textfeld 51">
                  <a:extLst>
                    <a:ext uri="{FF2B5EF4-FFF2-40B4-BE49-F238E27FC236}">
                      <a16:creationId xmlns:a16="http://schemas.microsoft.com/office/drawing/2014/main" id="{2E734419-EB64-4D8D-B659-C49F2B9AF296}"/>
                    </a:ext>
                  </a:extLst>
                </p:cNvPr>
                <p:cNvSpPr txBox="1"/>
                <p:nvPr/>
              </p:nvSpPr>
              <p:spPr>
                <a:xfrm>
                  <a:off x="22175485" y="17645364"/>
                  <a:ext cx="2371691" cy="43116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de-DE" b="0" i="1" smtClean="0">
                            <a:latin typeface="Cambria Math" panose="02040503050406030204" pitchFamily="18" charset="0"/>
                          </a:rPr>
                          <m:t>𝜅</m:t>
                        </m:r>
                        <m:r>
                          <a:rPr lang="de-DE" b="0" i="1" smtClean="0">
                            <a:latin typeface="Cambria Math" panose="02040503050406030204" pitchFamily="18" charset="0"/>
                          </a:rPr>
                          <m:t>=</m:t>
                        </m:r>
                        <m:sSub>
                          <m:sSubPr>
                            <m:ctrlPr>
                              <a:rPr lang="de-DE" b="0" i="1" smtClean="0">
                                <a:latin typeface="Cambria Math" panose="02040503050406030204" pitchFamily="18" charset="0"/>
                              </a:rPr>
                            </m:ctrlPr>
                          </m:sSubPr>
                          <m:e>
                            <m:r>
                              <a:rPr lang="de-DE" b="0" i="1" smtClean="0">
                                <a:latin typeface="Cambria Math" panose="02040503050406030204" pitchFamily="18" charset="0"/>
                              </a:rPr>
                              <m:t>𝜅</m:t>
                            </m:r>
                          </m:e>
                          <m:sub>
                            <m:r>
                              <a:rPr lang="de-DE" b="0" i="1" smtClean="0">
                                <a:latin typeface="Cambria Math" panose="02040503050406030204" pitchFamily="18" charset="0"/>
                              </a:rPr>
                              <m:t>𝑙𝑜𝑠𝑠</m:t>
                            </m:r>
                          </m:sub>
                        </m:sSub>
                        <m:r>
                          <a:rPr lang="de-DE" b="0" i="1" smtClean="0">
                            <a:latin typeface="Cambria Math" panose="02040503050406030204" pitchFamily="18" charset="0"/>
                          </a:rPr>
                          <m:t>+</m:t>
                        </m:r>
                        <m:sSub>
                          <m:sSubPr>
                            <m:ctrlPr>
                              <a:rPr lang="de-DE" b="0" i="1" smtClean="0">
                                <a:latin typeface="Cambria Math" panose="02040503050406030204" pitchFamily="18" charset="0"/>
                              </a:rPr>
                            </m:ctrlPr>
                          </m:sSubPr>
                          <m:e>
                            <m:r>
                              <a:rPr lang="de-DE" b="0" i="1" smtClean="0">
                                <a:latin typeface="Cambria Math" panose="02040503050406030204" pitchFamily="18" charset="0"/>
                              </a:rPr>
                              <m:t>𝜅</m:t>
                            </m:r>
                          </m:e>
                          <m:sub>
                            <m:r>
                              <a:rPr lang="de-DE" b="0" i="1" smtClean="0">
                                <a:latin typeface="Cambria Math" panose="02040503050406030204" pitchFamily="18" charset="0"/>
                              </a:rPr>
                              <m:t>𝑜𝑢𝑡</m:t>
                            </m:r>
                          </m:sub>
                        </m:sSub>
                      </m:oMath>
                    </m:oMathPara>
                  </a14:m>
                  <a:endParaRPr lang="en-AU" dirty="0"/>
                </a:p>
              </p:txBody>
            </p:sp>
          </mc:Choice>
          <mc:Fallback xmlns="">
            <p:sp>
              <p:nvSpPr>
                <p:cNvPr id="52" name="Textfeld 51">
                  <a:extLst>
                    <a:ext uri="{FF2B5EF4-FFF2-40B4-BE49-F238E27FC236}">
                      <a16:creationId xmlns:a16="http://schemas.microsoft.com/office/drawing/2014/main" id="{2E734419-EB64-4D8D-B659-C49F2B9AF296}"/>
                    </a:ext>
                  </a:extLst>
                </p:cNvPr>
                <p:cNvSpPr txBox="1">
                  <a:spLocks noRot="1" noChangeAspect="1" noMove="1" noResize="1" noEditPoints="1" noAdjustHandles="1" noChangeArrowheads="1" noChangeShapeType="1" noTextEdit="1"/>
                </p:cNvSpPr>
                <p:nvPr/>
              </p:nvSpPr>
              <p:spPr>
                <a:xfrm>
                  <a:off x="22175485" y="17645364"/>
                  <a:ext cx="2371691" cy="431167"/>
                </a:xfrm>
                <a:prstGeom prst="rect">
                  <a:avLst/>
                </a:prstGeom>
                <a:blipFill>
                  <a:blip r:embed="rId26"/>
                  <a:stretch>
                    <a:fillRect/>
                  </a:stretch>
                </a:blipFill>
              </p:spPr>
              <p:txBody>
                <a:bodyPr/>
                <a:lstStyle/>
                <a:p>
                  <a:r>
                    <a:rPr lang="en-AU">
                      <a:noFill/>
                    </a:rPr>
                    <a:t> </a:t>
                  </a:r>
                </a:p>
              </p:txBody>
            </p:sp>
          </mc:Fallback>
        </mc:AlternateContent>
      </p:grpSp>
      <mc:AlternateContent xmlns:mc="http://schemas.openxmlformats.org/markup-compatibility/2006" xmlns:a14="http://schemas.microsoft.com/office/drawing/2010/main">
        <mc:Choice Requires="a14">
          <p:sp>
            <p:nvSpPr>
              <p:cNvPr id="179" name="Rechteck 178">
                <a:extLst>
                  <a:ext uri="{FF2B5EF4-FFF2-40B4-BE49-F238E27FC236}">
                    <a16:creationId xmlns:a16="http://schemas.microsoft.com/office/drawing/2014/main" id="{81066BBB-0960-4E10-B60D-1B9FFEC2AD15}"/>
                  </a:ext>
                </a:extLst>
              </p:cNvPr>
              <p:cNvSpPr/>
              <p:nvPr/>
            </p:nvSpPr>
            <p:spPr>
              <a:xfrm>
                <a:off x="930118" y="13322260"/>
                <a:ext cx="13232385" cy="11386004"/>
              </a:xfrm>
              <a:prstGeom prst="rect">
                <a:avLst/>
              </a:prstGeom>
              <a:solidFill>
                <a:schemeClr val="bg1"/>
              </a:solidFill>
              <a:ln w="6350">
                <a:solidFill>
                  <a:schemeClr val="bg1"/>
                </a:solidFill>
              </a:ln>
              <a:effectLst>
                <a:outerShdw blurRad="179333" sx="101000" sy="101000" algn="ctr" rotWithShape="0">
                  <a:srgbClr val="D1D1CC">
                    <a:alpha val="70568"/>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1,</m:t>
                          </m:r>
                          <m:r>
                            <a:rPr lang="en-US" b="0" i="1" smtClean="0">
                              <a:latin typeface="Cambria Math" panose="02040503050406030204" pitchFamily="18" charset="0"/>
                            </a:rPr>
                            <m:t>𝜋</m:t>
                          </m:r>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1,</m:t>
                          </m:r>
                          <m:r>
                            <a:rPr lang="en-US" b="0" i="1" smtClean="0">
                              <a:latin typeface="Cambria Math" panose="02040503050406030204" pitchFamily="18" charset="0"/>
                            </a:rPr>
                            <m:t>𝜋</m:t>
                          </m:r>
                        </m:e>
                      </m:d>
                    </m:oMath>
                  </m:oMathPara>
                </a14:m>
                <a:endParaRPr lang="de-DE" dirty="0"/>
              </a:p>
            </p:txBody>
          </p:sp>
        </mc:Choice>
        <mc:Fallback xmlns="">
          <p:sp>
            <p:nvSpPr>
              <p:cNvPr id="179" name="Rechteck 178">
                <a:extLst>
                  <a:ext uri="{FF2B5EF4-FFF2-40B4-BE49-F238E27FC236}">
                    <a16:creationId xmlns:a16="http://schemas.microsoft.com/office/drawing/2014/main" id="{81066BBB-0960-4E10-B60D-1B9FFEC2AD15}"/>
                  </a:ext>
                </a:extLst>
              </p:cNvPr>
              <p:cNvSpPr>
                <a:spLocks noRot="1" noChangeAspect="1" noMove="1" noResize="1" noEditPoints="1" noAdjustHandles="1" noChangeArrowheads="1" noChangeShapeType="1" noTextEdit="1"/>
              </p:cNvSpPr>
              <p:nvPr/>
            </p:nvSpPr>
            <p:spPr>
              <a:xfrm>
                <a:off x="930118" y="13322260"/>
                <a:ext cx="13232385" cy="11386004"/>
              </a:xfrm>
              <a:prstGeom prst="rect">
                <a:avLst/>
              </a:prstGeom>
              <a:blipFill>
                <a:blip r:embed="rId27"/>
                <a:stretch>
                  <a:fillRect/>
                </a:stretch>
              </a:blipFill>
              <a:ln w="6350">
                <a:solidFill>
                  <a:schemeClr val="bg1"/>
                </a:solidFill>
              </a:ln>
              <a:effectLst>
                <a:outerShdw blurRad="179333" sx="101000" sy="101000" algn="ctr" rotWithShape="0">
                  <a:srgbClr val="D1D1CC">
                    <a:alpha val="70568"/>
                  </a:srgbClr>
                </a:outerShdw>
              </a:effectLst>
            </p:spPr>
            <p:txBody>
              <a:bodyPr/>
              <a:lstStyle/>
              <a:p>
                <a:r>
                  <a:rPr lang="LID4096">
                    <a:noFill/>
                  </a:rPr>
                  <a:t> </a:t>
                </a:r>
              </a:p>
            </p:txBody>
          </p:sp>
        </mc:Fallback>
      </mc:AlternateContent>
      <p:sp>
        <p:nvSpPr>
          <p:cNvPr id="185" name="Textfeld 11">
            <a:extLst>
              <a:ext uri="{FF2B5EF4-FFF2-40B4-BE49-F238E27FC236}">
                <a16:creationId xmlns:a16="http://schemas.microsoft.com/office/drawing/2014/main" id="{D2DA5E1C-9907-4E91-8B17-00D64392E74F}"/>
              </a:ext>
            </a:extLst>
          </p:cNvPr>
          <p:cNvSpPr txBox="1"/>
          <p:nvPr/>
        </p:nvSpPr>
        <p:spPr>
          <a:xfrm>
            <a:off x="1400701" y="12824938"/>
            <a:ext cx="9348511" cy="783324"/>
          </a:xfrm>
          <a:prstGeom prst="rect">
            <a:avLst/>
          </a:prstGeom>
          <a:solidFill>
            <a:srgbClr val="233F4D"/>
          </a:solidFill>
        </p:spPr>
        <p:txBody>
          <a:bodyPr wrap="none" tIns="36000" bIns="72000" rtlCol="0" anchor="ctr" anchorCtr="0">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de-DE" sz="3000" dirty="0">
                <a:solidFill>
                  <a:schemeClr val="bg1"/>
                </a:solidFill>
                <a:latin typeface="Roboto" panose="02000000000000000000" pitchFamily="2" charset="0"/>
                <a:ea typeface="Roboto" panose="02000000000000000000" pitchFamily="2" charset="0"/>
                <a:cs typeface="Roboto" panose="02000000000000000000" pitchFamily="2" charset="0"/>
              </a:rPr>
              <a:t>  Experiment</a:t>
            </a:r>
          </a:p>
        </p:txBody>
      </p:sp>
      <p:sp>
        <p:nvSpPr>
          <p:cNvPr id="280" name="Rechteck 279">
            <a:extLst>
              <a:ext uri="{FF2B5EF4-FFF2-40B4-BE49-F238E27FC236}">
                <a16:creationId xmlns:a16="http://schemas.microsoft.com/office/drawing/2014/main" id="{42D7B8BC-DD84-4C51-8323-864E35684459}"/>
              </a:ext>
            </a:extLst>
          </p:cNvPr>
          <p:cNvSpPr/>
          <p:nvPr/>
        </p:nvSpPr>
        <p:spPr>
          <a:xfrm>
            <a:off x="14890241" y="24646569"/>
            <a:ext cx="14786076" cy="7799739"/>
          </a:xfrm>
          <a:prstGeom prst="rect">
            <a:avLst/>
          </a:prstGeom>
          <a:solidFill>
            <a:schemeClr val="bg1"/>
          </a:solidFill>
          <a:ln>
            <a:noFill/>
          </a:ln>
          <a:effectLst>
            <a:outerShdw blurRad="179333" sx="101000" sy="101000" algn="ctr" rotWithShape="0">
              <a:srgbClr val="D1D1CC">
                <a:alpha val="70568"/>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366" name="Textfeld 11">
            <a:extLst>
              <a:ext uri="{FF2B5EF4-FFF2-40B4-BE49-F238E27FC236}">
                <a16:creationId xmlns:a16="http://schemas.microsoft.com/office/drawing/2014/main" id="{07E16579-8971-47B3-AECA-A0904D462402}"/>
              </a:ext>
            </a:extLst>
          </p:cNvPr>
          <p:cNvSpPr txBox="1"/>
          <p:nvPr/>
        </p:nvSpPr>
        <p:spPr>
          <a:xfrm>
            <a:off x="15328306" y="14347165"/>
            <a:ext cx="11340717" cy="783324"/>
          </a:xfrm>
          <a:prstGeom prst="rect">
            <a:avLst/>
          </a:prstGeom>
          <a:solidFill>
            <a:srgbClr val="233F4D"/>
          </a:solidFill>
        </p:spPr>
        <p:txBody>
          <a:bodyPr wrap="none" tIns="36000" bIns="72000" rtlCol="0" anchor="ctr" anchorCtr="0">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de-DE" sz="3000" dirty="0">
                <a:solidFill>
                  <a:schemeClr val="bg1"/>
                </a:solidFill>
                <a:latin typeface="Roboto" panose="02000000000000000000" pitchFamily="2" charset="0"/>
                <a:ea typeface="Roboto" panose="02000000000000000000" pitchFamily="2" charset="0"/>
                <a:cs typeface="Roboto" panose="02000000000000000000" pitchFamily="2" charset="0"/>
              </a:rPr>
              <a:t>  System </a:t>
            </a:r>
            <a:r>
              <a:rPr lang="de-DE" sz="3000" dirty="0" err="1">
                <a:solidFill>
                  <a:schemeClr val="bg1"/>
                </a:solidFill>
                <a:latin typeface="Roboto" panose="02000000000000000000" pitchFamily="2" charset="0"/>
                <a:ea typeface="Roboto" panose="02000000000000000000" pitchFamily="2" charset="0"/>
                <a:cs typeface="Roboto" panose="02000000000000000000" pitchFamily="2" charset="0"/>
              </a:rPr>
              <a:t>Characterization</a:t>
            </a:r>
            <a:r>
              <a:rPr lang="de-DE" sz="3000" dirty="0">
                <a:solidFill>
                  <a:schemeClr val="bg1"/>
                </a:solidFill>
                <a:latin typeface="Roboto" panose="02000000000000000000" pitchFamily="2" charset="0"/>
                <a:ea typeface="Roboto" panose="02000000000000000000" pitchFamily="2" charset="0"/>
                <a:cs typeface="Roboto" panose="02000000000000000000" pitchFamily="2" charset="0"/>
              </a:rPr>
              <a:t> &amp; Control</a:t>
            </a:r>
          </a:p>
        </p:txBody>
      </p:sp>
      <p:sp>
        <p:nvSpPr>
          <p:cNvPr id="374" name="Textfeld 11">
            <a:extLst>
              <a:ext uri="{FF2B5EF4-FFF2-40B4-BE49-F238E27FC236}">
                <a16:creationId xmlns:a16="http://schemas.microsoft.com/office/drawing/2014/main" id="{ED13DFD3-D250-4C11-B024-D2AFFDB19C95}"/>
              </a:ext>
            </a:extLst>
          </p:cNvPr>
          <p:cNvSpPr txBox="1"/>
          <p:nvPr/>
        </p:nvSpPr>
        <p:spPr>
          <a:xfrm>
            <a:off x="15221436" y="24268171"/>
            <a:ext cx="8842680" cy="783324"/>
          </a:xfrm>
          <a:prstGeom prst="rect">
            <a:avLst/>
          </a:prstGeom>
          <a:solidFill>
            <a:srgbClr val="233F4D"/>
          </a:solidFill>
        </p:spPr>
        <p:txBody>
          <a:bodyPr wrap="none" tIns="36000" bIns="72000" rtlCol="0" anchor="ctr" anchorCtr="0">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3000" dirty="0">
                <a:solidFill>
                  <a:schemeClr val="bg1"/>
                </a:solidFill>
                <a:latin typeface="Roboto" panose="02000000000000000000" pitchFamily="2" charset="0"/>
                <a:ea typeface="Roboto" panose="02000000000000000000" pitchFamily="2" charset="0"/>
                <a:cs typeface="Roboto" panose="02000000000000000000" pitchFamily="2" charset="0"/>
              </a:rPr>
              <a:t>   Optimal Pulse Intensity (Preliminary)</a:t>
            </a:r>
            <a:endParaRPr lang="de-DE" sz="3000"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213" name="Picture 15">
            <a:extLst>
              <a:ext uri="{FF2B5EF4-FFF2-40B4-BE49-F238E27FC236}">
                <a16:creationId xmlns:a16="http://schemas.microsoft.com/office/drawing/2014/main" id="{D75A4052-77B3-45A8-9AF4-9B2458FE09A7}"/>
              </a:ext>
            </a:extLst>
          </p:cNvPr>
          <p:cNvPicPr>
            <a:picLocks noChangeAspect="1"/>
          </p:cNvPicPr>
          <p:nvPr/>
        </p:nvPicPr>
        <p:blipFill>
          <a:blip r:embed="rId28">
            <a:extLst>
              <a:ext uri="{28A0092B-C50C-407E-A947-70E740481C1C}">
                <a14:useLocalDpi xmlns:a14="http://schemas.microsoft.com/office/drawing/2010/main" val="0"/>
              </a:ext>
            </a:extLst>
          </a:blip>
          <a:stretch>
            <a:fillRect/>
          </a:stretch>
        </p:blipFill>
        <p:spPr>
          <a:xfrm>
            <a:off x="16189116" y="40833159"/>
            <a:ext cx="3033220" cy="1403340"/>
          </a:xfrm>
          <a:prstGeom prst="rect">
            <a:avLst/>
          </a:prstGeom>
        </p:spPr>
      </p:pic>
      <p:pic>
        <p:nvPicPr>
          <p:cNvPr id="156" name="Picture 6" descr="Munich Center for Quantum Science and Technology">
            <a:extLst>
              <a:ext uri="{FF2B5EF4-FFF2-40B4-BE49-F238E27FC236}">
                <a16:creationId xmlns:a16="http://schemas.microsoft.com/office/drawing/2014/main" id="{9BE587EB-D6A4-49BD-BFE3-DFFE024C33BB}"/>
              </a:ext>
            </a:extLst>
          </p:cNvPr>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19889144" y="40900642"/>
            <a:ext cx="2474491" cy="1270009"/>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DC9F7C9B-D860-D1AB-62F6-9EA343BFB85F}"/>
              </a:ext>
            </a:extLst>
          </p:cNvPr>
          <p:cNvPicPr>
            <a:picLocks noChangeAspect="1"/>
          </p:cNvPicPr>
          <p:nvPr/>
        </p:nvPicPr>
        <p:blipFill>
          <a:blip r:embed="rId30"/>
          <a:stretch>
            <a:fillRect/>
          </a:stretch>
        </p:blipFill>
        <p:spPr>
          <a:xfrm>
            <a:off x="1296450" y="6046292"/>
            <a:ext cx="14424386" cy="969348"/>
          </a:xfrm>
          <a:prstGeom prst="rect">
            <a:avLst/>
          </a:prstGeom>
        </p:spPr>
      </p:pic>
      <p:sp>
        <p:nvSpPr>
          <p:cNvPr id="19" name="Rechteck 178">
            <a:extLst>
              <a:ext uri="{FF2B5EF4-FFF2-40B4-BE49-F238E27FC236}">
                <a16:creationId xmlns:a16="http://schemas.microsoft.com/office/drawing/2014/main" id="{8AB3E0E6-DE7D-1B8E-FBBE-1348D17E4FBA}"/>
              </a:ext>
            </a:extLst>
          </p:cNvPr>
          <p:cNvSpPr/>
          <p:nvPr/>
        </p:nvSpPr>
        <p:spPr>
          <a:xfrm>
            <a:off x="891260" y="25509165"/>
            <a:ext cx="13228235" cy="7934679"/>
          </a:xfrm>
          <a:prstGeom prst="rect">
            <a:avLst/>
          </a:prstGeom>
          <a:solidFill>
            <a:schemeClr val="bg1"/>
          </a:solidFill>
          <a:ln w="6350">
            <a:solidFill>
              <a:schemeClr val="bg1"/>
            </a:solidFill>
          </a:ln>
          <a:effectLst>
            <a:outerShdw blurRad="179333" sx="101000" sy="101000" algn="ctr" rotWithShape="0">
              <a:srgbClr val="D1D1CC">
                <a:alpha val="70568"/>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30" name="Textfeld 11">
            <a:extLst>
              <a:ext uri="{FF2B5EF4-FFF2-40B4-BE49-F238E27FC236}">
                <a16:creationId xmlns:a16="http://schemas.microsoft.com/office/drawing/2014/main" id="{BEFF46E5-3869-DC7C-D1D3-AA71FE2AD87A}"/>
              </a:ext>
            </a:extLst>
          </p:cNvPr>
          <p:cNvSpPr txBox="1"/>
          <p:nvPr/>
        </p:nvSpPr>
        <p:spPr>
          <a:xfrm>
            <a:off x="1452513" y="25114497"/>
            <a:ext cx="9377288" cy="789335"/>
          </a:xfrm>
          <a:prstGeom prst="rect">
            <a:avLst/>
          </a:prstGeom>
          <a:solidFill>
            <a:srgbClr val="233F4D"/>
          </a:solidFill>
        </p:spPr>
        <p:txBody>
          <a:bodyPr wrap="none" tIns="36000" bIns="72000" rtlCol="0" anchor="ctr" anchorCtr="0">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de-DE" sz="3000" dirty="0">
                <a:solidFill>
                  <a:schemeClr val="bg1"/>
                </a:solidFill>
                <a:latin typeface="Roboto" panose="02000000000000000000" pitchFamily="2" charset="0"/>
                <a:ea typeface="Roboto" panose="02000000000000000000" pitchFamily="2" charset="0"/>
                <a:cs typeface="Roboto" panose="02000000000000000000" pitchFamily="2" charset="0"/>
              </a:rPr>
              <a:t>  Resonant </a:t>
            </a:r>
            <a:r>
              <a:rPr lang="de-DE" sz="3000" dirty="0" err="1">
                <a:solidFill>
                  <a:schemeClr val="bg1"/>
                </a:solidFill>
                <a:latin typeface="Roboto" panose="02000000000000000000" pitchFamily="2" charset="0"/>
                <a:ea typeface="Roboto" panose="02000000000000000000" pitchFamily="2" charset="0"/>
                <a:cs typeface="Roboto" panose="02000000000000000000" pitchFamily="2" charset="0"/>
              </a:rPr>
              <a:t>Reflection</a:t>
            </a:r>
            <a:r>
              <a:rPr lang="de-DE" sz="3000" dirty="0">
                <a:solidFill>
                  <a:schemeClr val="bg1"/>
                </a:solidFill>
                <a:latin typeface="Roboto" panose="02000000000000000000" pitchFamily="2" charset="0"/>
                <a:ea typeface="Roboto" panose="02000000000000000000" pitchFamily="2" charset="0"/>
                <a:cs typeface="Roboto" panose="02000000000000000000" pitchFamily="2" charset="0"/>
              </a:rPr>
              <a:t> </a:t>
            </a:r>
            <a:r>
              <a:rPr lang="de-DE" sz="3000" dirty="0" err="1">
                <a:solidFill>
                  <a:schemeClr val="bg1"/>
                </a:solidFill>
                <a:latin typeface="Roboto" panose="02000000000000000000" pitchFamily="2" charset="0"/>
                <a:ea typeface="Roboto" panose="02000000000000000000" pitchFamily="2" charset="0"/>
                <a:cs typeface="Roboto" panose="02000000000000000000" pitchFamily="2" charset="0"/>
              </a:rPr>
              <a:t>with</a:t>
            </a:r>
            <a:r>
              <a:rPr lang="de-DE" sz="3000" dirty="0">
                <a:solidFill>
                  <a:schemeClr val="bg1"/>
                </a:solidFill>
                <a:latin typeface="Roboto" panose="02000000000000000000" pitchFamily="2" charset="0"/>
                <a:ea typeface="Roboto" panose="02000000000000000000" pitchFamily="2" charset="0"/>
                <a:cs typeface="Roboto" panose="02000000000000000000" pitchFamily="2" charset="0"/>
              </a:rPr>
              <a:t> and w/o Atom</a:t>
            </a:r>
          </a:p>
        </p:txBody>
      </p:sp>
      <p:pic>
        <p:nvPicPr>
          <p:cNvPr id="40" name="Picture 39">
            <a:extLst>
              <a:ext uri="{FF2B5EF4-FFF2-40B4-BE49-F238E27FC236}">
                <a16:creationId xmlns:a16="http://schemas.microsoft.com/office/drawing/2014/main" id="{BFF22E8D-874C-6DFB-212E-CCF4C98C0866}"/>
              </a:ext>
            </a:extLst>
          </p:cNvPr>
          <p:cNvPicPr>
            <a:picLocks noChangeAspect="1"/>
          </p:cNvPicPr>
          <p:nvPr/>
        </p:nvPicPr>
        <p:blipFill rotWithShape="1">
          <a:blip r:embed="rId31"/>
          <a:srcRect l="2616" t="3285" r="3101" b="4431"/>
          <a:stretch/>
        </p:blipFill>
        <p:spPr>
          <a:xfrm>
            <a:off x="1452513" y="18517188"/>
            <a:ext cx="2671342" cy="1821622"/>
          </a:xfrm>
          <a:prstGeom prst="rect">
            <a:avLst/>
          </a:prstGeom>
          <a:ln>
            <a:solidFill>
              <a:schemeClr val="accent1"/>
            </a:solidFill>
          </a:ln>
        </p:spPr>
      </p:pic>
      <p:sp>
        <p:nvSpPr>
          <p:cNvPr id="84" name="Rounded Rectangle 93">
            <a:extLst>
              <a:ext uri="{FF2B5EF4-FFF2-40B4-BE49-F238E27FC236}">
                <a16:creationId xmlns:a16="http://schemas.microsoft.com/office/drawing/2014/main" id="{03900F71-467C-A1CF-5A64-0B3F7BB4D671}"/>
              </a:ext>
            </a:extLst>
          </p:cNvPr>
          <p:cNvSpPr/>
          <p:nvPr/>
        </p:nvSpPr>
        <p:spPr>
          <a:xfrm>
            <a:off x="865766" y="34353818"/>
            <a:ext cx="13296738" cy="4399819"/>
          </a:xfrm>
          <a:prstGeom prst="roundRect">
            <a:avLst>
              <a:gd name="adj" fmla="val 21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97" name="TextBox 1345">
            <a:extLst>
              <a:ext uri="{FF2B5EF4-FFF2-40B4-BE49-F238E27FC236}">
                <a16:creationId xmlns:a16="http://schemas.microsoft.com/office/drawing/2014/main" id="{BB156AD0-6BB1-CFA3-FCA3-D436258E17E0}"/>
              </a:ext>
            </a:extLst>
          </p:cNvPr>
          <p:cNvSpPr txBox="1"/>
          <p:nvPr/>
        </p:nvSpPr>
        <p:spPr>
          <a:xfrm>
            <a:off x="1525155" y="34072743"/>
            <a:ext cx="2304000" cy="654722"/>
          </a:xfrm>
          <a:prstGeom prst="rect">
            <a:avLst/>
          </a:prstGeom>
          <a:solidFill>
            <a:srgbClr val="233F4D"/>
          </a:solid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3600" b="1" dirty="0">
                <a:solidFill>
                  <a:schemeClr val="bg1"/>
                </a:solidFill>
              </a:rPr>
              <a:t> Outlook  </a:t>
            </a:r>
          </a:p>
        </p:txBody>
      </p:sp>
      <p:sp>
        <p:nvSpPr>
          <p:cNvPr id="104" name="TextBox 103">
            <a:extLst>
              <a:ext uri="{FF2B5EF4-FFF2-40B4-BE49-F238E27FC236}">
                <a16:creationId xmlns:a16="http://schemas.microsoft.com/office/drawing/2014/main" id="{874C401E-DFFE-C79E-2F39-D61DEF20A2F3}"/>
              </a:ext>
            </a:extLst>
          </p:cNvPr>
          <p:cNvSpPr txBox="1"/>
          <p:nvPr/>
        </p:nvSpPr>
        <p:spPr>
          <a:xfrm>
            <a:off x="1265956" y="34910634"/>
            <a:ext cx="12692767" cy="4062651"/>
          </a:xfrm>
          <a:prstGeom prst="rect">
            <a:avLst/>
          </a:prstGeom>
          <a:noFill/>
        </p:spPr>
        <p:txBody>
          <a:bodyPr wrap="square" rtlCol="0">
            <a:spAutoFit/>
          </a:bodyPr>
          <a:lstStyle/>
          <a:p>
            <a:pPr marL="285750" indent="-285750">
              <a:buFont typeface="Arial" panose="020B0604020202020204" pitchFamily="34" charset="0"/>
              <a:buChar char="•"/>
            </a:pPr>
            <a:r>
              <a:rPr lang="en-US" sz="2400" dirty="0"/>
              <a:t>Finish ongoing simulations</a:t>
            </a:r>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dirty="0"/>
              <a:t>Boost fidelity by improving current experimental parameters (</a:t>
            </a:r>
            <a:r>
              <a:rPr lang="en-US" sz="2400" dirty="0" err="1"/>
              <a:t>e.g</a:t>
            </a:r>
            <a:r>
              <a:rPr lang="en-US" sz="2400" dirty="0"/>
              <a:t> mean photon number, attenuation of V-pol. light)</a:t>
            </a:r>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dirty="0"/>
              <a:t>Generate atom-photon entanglement</a:t>
            </a:r>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dirty="0"/>
              <a:t>Preparation of a GHZ state</a:t>
            </a:r>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dirty="0"/>
              <a:t>Achieve successful quantum gate operation between two single-photon pulses.</a:t>
            </a:r>
          </a:p>
          <a:p>
            <a:pPr marL="285750" indent="-285750">
              <a:buFont typeface="Arial" panose="020B0604020202020204" pitchFamily="34" charset="0"/>
              <a:buChar char="•"/>
            </a:pPr>
            <a:endParaRPr lang="LID4096" dirty="0"/>
          </a:p>
        </p:txBody>
      </p:sp>
      <p:pic>
        <p:nvPicPr>
          <p:cNvPr id="121" name="Graphic 120">
            <a:extLst>
              <a:ext uri="{FF2B5EF4-FFF2-40B4-BE49-F238E27FC236}">
                <a16:creationId xmlns:a16="http://schemas.microsoft.com/office/drawing/2014/main" id="{41778160-5FFA-0285-4F9C-3D239DD0E7B1}"/>
              </a:ext>
            </a:extLst>
          </p:cNvPr>
          <p:cNvPicPr>
            <a:picLocks noChangeAspect="1"/>
          </p:cNvPicPr>
          <p:nvPr/>
        </p:nvPicPr>
        <p:blipFill>
          <a:blip r:embed="rId32">
            <a:extLst>
              <a:ext uri="{96DAC541-7B7A-43D3-8B79-37D633B846F1}">
                <asvg:svgBlip xmlns:asvg="http://schemas.microsoft.com/office/drawing/2016/SVG/main" r:embed="rId33"/>
              </a:ext>
            </a:extLst>
          </a:blip>
          <a:srcRect l="1" r="-1828"/>
          <a:stretch/>
        </p:blipFill>
        <p:spPr>
          <a:xfrm>
            <a:off x="1876939" y="14369916"/>
            <a:ext cx="5809248" cy="4060785"/>
          </a:xfrm>
          <a:prstGeom prst="rect">
            <a:avLst/>
          </a:prstGeom>
        </p:spPr>
      </p:pic>
      <p:sp>
        <p:nvSpPr>
          <p:cNvPr id="122" name="TextBox 121">
            <a:extLst>
              <a:ext uri="{FF2B5EF4-FFF2-40B4-BE49-F238E27FC236}">
                <a16:creationId xmlns:a16="http://schemas.microsoft.com/office/drawing/2014/main" id="{6E957900-A84C-C01B-993B-57558D38C160}"/>
              </a:ext>
            </a:extLst>
          </p:cNvPr>
          <p:cNvSpPr txBox="1"/>
          <p:nvPr/>
        </p:nvSpPr>
        <p:spPr>
          <a:xfrm>
            <a:off x="1426837" y="14042327"/>
            <a:ext cx="7383093" cy="923330"/>
          </a:xfrm>
          <a:prstGeom prst="rect">
            <a:avLst/>
          </a:prstGeom>
          <a:noFill/>
        </p:spPr>
        <p:txBody>
          <a:bodyPr wrap="square" rtlCol="0">
            <a:spAutoFit/>
          </a:bodyPr>
          <a:lstStyle/>
          <a:p>
            <a:r>
              <a:rPr lang="en-US" dirty="0"/>
              <a:t>We use the D</a:t>
            </a:r>
            <a:r>
              <a:rPr lang="en-US" baseline="-25000" dirty="0"/>
              <a:t>2 </a:t>
            </a:r>
            <a:r>
              <a:rPr lang="en-US" dirty="0"/>
              <a:t>–line of Rb</a:t>
            </a:r>
            <a:r>
              <a:rPr lang="en-US" baseline="30000" dirty="0"/>
              <a:t>87 </a:t>
            </a:r>
            <a:r>
              <a:rPr lang="en-US" dirty="0"/>
              <a:t>to perform a conditional photon reflection based on the state of the atom and the polarization to which we’re resonantly coupled to:</a:t>
            </a:r>
            <a:endParaRPr lang="LID4096" dirty="0"/>
          </a:p>
        </p:txBody>
      </p:sp>
      <mc:AlternateContent xmlns:mc="http://schemas.openxmlformats.org/markup-compatibility/2006" xmlns:a14="http://schemas.microsoft.com/office/drawing/2010/main">
        <mc:Choice Requires="a14">
          <p:sp>
            <p:nvSpPr>
              <p:cNvPr id="123" name="TextBox 122">
                <a:extLst>
                  <a:ext uri="{FF2B5EF4-FFF2-40B4-BE49-F238E27FC236}">
                    <a16:creationId xmlns:a16="http://schemas.microsoft.com/office/drawing/2014/main" id="{EE483A1E-9ED2-5FBF-31F8-F39046B4BF59}"/>
                  </a:ext>
                </a:extLst>
              </p:cNvPr>
              <p:cNvSpPr txBox="1"/>
              <p:nvPr/>
            </p:nvSpPr>
            <p:spPr>
              <a:xfrm>
                <a:off x="8443575" y="15669241"/>
                <a:ext cx="2419351" cy="2308324"/>
              </a:xfrm>
              <a:prstGeom prst="rect">
                <a:avLst/>
              </a:prstGeom>
              <a:noFill/>
              <a:ln>
                <a:solidFill>
                  <a:schemeClr val="accent1"/>
                </a:solidFill>
              </a:ln>
            </p:spPr>
            <p:txBody>
              <a:bodyPr wrap="square" rtlCol="0">
                <a:spAutoFit/>
              </a:bodyPr>
              <a:lstStyle/>
              <a:p>
                <a:pPr algn="ctr"/>
                <a:r>
                  <a:rPr lang="en-US" b="0" dirty="0"/>
                  <a:t>Eigenbasis of cavities:</a:t>
                </a:r>
              </a:p>
              <a:p>
                <a:endParaRPr lang="en-US" dirty="0"/>
              </a:p>
              <a:p>
                <a:pPr/>
                <a14:m>
                  <m:oMathPara xmlns:m="http://schemas.openxmlformats.org/officeDocument/2006/math">
                    <m:oMathParaPr>
                      <m:jc m:val="centerGroup"/>
                    </m:oMathParaPr>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1,</m:t>
                          </m:r>
                          <m:r>
                            <a:rPr lang="en-US" b="0" i="1" smtClean="0">
                              <a:latin typeface="Cambria Math" panose="02040503050406030204" pitchFamily="18" charset="0"/>
                            </a:rPr>
                            <m:t>𝜋</m:t>
                          </m:r>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1,</m:t>
                          </m:r>
                          <m:r>
                            <a:rPr lang="en-US" b="0" i="1" smtClean="0">
                              <a:latin typeface="Cambria Math" panose="02040503050406030204" pitchFamily="18" charset="0"/>
                            </a:rPr>
                            <m:t>𝜋</m:t>
                          </m:r>
                        </m:e>
                      </m:d>
                    </m:oMath>
                  </m:oMathPara>
                </a14:m>
                <a:endParaRPr lang="en-US" b="0" dirty="0"/>
              </a:p>
              <a:p>
                <a:pPr/>
                <a14:m>
                  <m:oMathPara xmlns:m="http://schemas.openxmlformats.org/officeDocument/2006/math">
                    <m:oMathParaPr>
                      <m:jc m:val="centerGroup"/>
                    </m:oMathParaPr>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1,</m:t>
                          </m:r>
                          <m:r>
                            <a:rPr lang="en-US" b="0" i="1" smtClean="0">
                              <a:latin typeface="Cambria Math" panose="02040503050406030204" pitchFamily="18" charset="0"/>
                            </a:rPr>
                            <m:t>𝑉</m:t>
                          </m:r>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1,</m:t>
                          </m:r>
                          <m:r>
                            <a:rPr lang="en-US" b="0" i="1" smtClean="0">
                              <a:latin typeface="Cambria Math" panose="02040503050406030204" pitchFamily="18" charset="0"/>
                            </a:rPr>
                            <m:t>𝑉</m:t>
                          </m:r>
                        </m:e>
                      </m:d>
                    </m:oMath>
                  </m:oMathPara>
                </a14:m>
                <a:endParaRPr lang="en-US" b="0" dirty="0"/>
              </a:p>
              <a:p>
                <a:pPr/>
                <a14:m>
                  <m:oMathPara xmlns:m="http://schemas.openxmlformats.org/officeDocument/2006/math">
                    <m:oMathParaPr>
                      <m:jc m:val="centerGroup"/>
                    </m:oMathParaPr>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0,</m:t>
                          </m:r>
                          <m:r>
                            <a:rPr lang="en-US" b="0" i="1" smtClean="0">
                              <a:latin typeface="Cambria Math" panose="02040503050406030204" pitchFamily="18" charset="0"/>
                            </a:rPr>
                            <m:t>𝜋</m:t>
                          </m:r>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0,</m:t>
                          </m:r>
                          <m:r>
                            <a:rPr lang="en-US" b="0" i="1" smtClean="0">
                              <a:latin typeface="Cambria Math" panose="02040503050406030204" pitchFamily="18" charset="0"/>
                            </a:rPr>
                            <m:t>𝜋</m:t>
                          </m:r>
                        </m:e>
                      </m:d>
                    </m:oMath>
                  </m:oMathPara>
                </a14:m>
                <a:endParaRPr lang="en-US" b="0" dirty="0"/>
              </a:p>
              <a:p>
                <a:pPr/>
                <a14:m>
                  <m:oMathPara xmlns:m="http://schemas.openxmlformats.org/officeDocument/2006/math">
                    <m:oMathParaPr>
                      <m:jc m:val="centerGroup"/>
                    </m:oMathParaPr>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0,</m:t>
                          </m:r>
                          <m:r>
                            <a:rPr lang="en-US" b="0" i="1" smtClean="0">
                              <a:latin typeface="Cambria Math" panose="02040503050406030204" pitchFamily="18" charset="0"/>
                            </a:rPr>
                            <m:t>𝑉</m:t>
                          </m:r>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0,</m:t>
                          </m:r>
                          <m:r>
                            <a:rPr lang="en-US" b="0" i="1" smtClean="0">
                              <a:latin typeface="Cambria Math" panose="02040503050406030204" pitchFamily="18" charset="0"/>
                            </a:rPr>
                            <m:t>𝑉</m:t>
                          </m:r>
                        </m:e>
                      </m:d>
                    </m:oMath>
                  </m:oMathPara>
                </a14:m>
                <a:endParaRPr lang="en-US" dirty="0"/>
              </a:p>
              <a:p>
                <a:endParaRPr lang="en-US" b="0" dirty="0"/>
              </a:p>
              <a:p>
                <a:pPr algn="ctr"/>
                <a:r>
                  <a:rPr lang="en-US" dirty="0">
                    <a:sym typeface="Wingdings" panose="05000000000000000000" pitchFamily="2" charset="2"/>
                  </a:rPr>
                  <a:t> CPHASE - Gate</a:t>
                </a:r>
                <a:endParaRPr lang="en-US" b="0" dirty="0"/>
              </a:p>
            </p:txBody>
          </p:sp>
        </mc:Choice>
        <mc:Fallback xmlns="">
          <p:sp>
            <p:nvSpPr>
              <p:cNvPr id="123" name="TextBox 122">
                <a:extLst>
                  <a:ext uri="{FF2B5EF4-FFF2-40B4-BE49-F238E27FC236}">
                    <a16:creationId xmlns:a16="http://schemas.microsoft.com/office/drawing/2014/main" id="{EE483A1E-9ED2-5FBF-31F8-F39046B4BF59}"/>
                  </a:ext>
                </a:extLst>
              </p:cNvPr>
              <p:cNvSpPr txBox="1">
                <a:spLocks noRot="1" noChangeAspect="1" noMove="1" noResize="1" noEditPoints="1" noAdjustHandles="1" noChangeArrowheads="1" noChangeShapeType="1" noTextEdit="1"/>
              </p:cNvSpPr>
              <p:nvPr/>
            </p:nvSpPr>
            <p:spPr>
              <a:xfrm>
                <a:off x="8443575" y="15669241"/>
                <a:ext cx="2419351" cy="2308324"/>
              </a:xfrm>
              <a:prstGeom prst="rect">
                <a:avLst/>
              </a:prstGeom>
              <a:blipFill>
                <a:blip r:embed="rId36"/>
                <a:stretch>
                  <a:fillRect t="-1050" b="-2887"/>
                </a:stretch>
              </a:blipFill>
              <a:ln>
                <a:solidFill>
                  <a:schemeClr val="accent1"/>
                </a:solidFill>
              </a:ln>
            </p:spPr>
            <p:txBody>
              <a:bodyPr/>
              <a:lstStyle/>
              <a:p>
                <a:r>
                  <a:rPr lang="LID4096">
                    <a:noFill/>
                  </a:rPr>
                  <a:t> </a:t>
                </a:r>
              </a:p>
            </p:txBody>
          </p:sp>
        </mc:Fallback>
      </mc:AlternateContent>
      <mc:AlternateContent xmlns:mc="http://schemas.openxmlformats.org/markup-compatibility/2006" xmlns:a14="http://schemas.microsoft.com/office/drawing/2010/main">
        <mc:Choice Requires="a14">
          <p:sp>
            <p:nvSpPr>
              <p:cNvPr id="124" name="TextBox 123">
                <a:extLst>
                  <a:ext uri="{FF2B5EF4-FFF2-40B4-BE49-F238E27FC236}">
                    <a16:creationId xmlns:a16="http://schemas.microsoft.com/office/drawing/2014/main" id="{A14143CC-EC4B-1DF0-DF30-D51157597B9B}"/>
                  </a:ext>
                </a:extLst>
              </p:cNvPr>
              <p:cNvSpPr txBox="1"/>
              <p:nvPr/>
            </p:nvSpPr>
            <p:spPr>
              <a:xfrm>
                <a:off x="11106235" y="13939408"/>
                <a:ext cx="2852488" cy="4038157"/>
              </a:xfrm>
              <a:prstGeom prst="rect">
                <a:avLst/>
              </a:prstGeom>
              <a:noFill/>
              <a:ln>
                <a:solidFill>
                  <a:schemeClr val="accent2"/>
                </a:solidFill>
              </a:ln>
            </p:spPr>
            <p:txBody>
              <a:bodyPr wrap="square" rtlCol="0">
                <a:spAutoFit/>
              </a:bodyPr>
              <a:lstStyle/>
              <a:p>
                <a:r>
                  <a:rPr lang="en-US" dirty="0"/>
                  <a:t>Changing to the following basis:</a:t>
                </a:r>
              </a:p>
              <a:p>
                <a:pPr/>
                <a14:m>
                  <m:oMathPara xmlns:m="http://schemas.openxmlformats.org/officeDocument/2006/math">
                    <m:oMathParaPr>
                      <m:jc m:val="centerGroup"/>
                    </m:oMathParaPr>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𝑉</m:t>
                              </m:r>
                            </m:e>
                          </m:d>
                          <m:r>
                            <a:rPr lang="en-US" b="0" i="1" smtClean="0">
                              <a:latin typeface="Cambria Math" panose="02040503050406030204" pitchFamily="18" charset="0"/>
                            </a:rPr>
                            <m:t>+|</m:t>
                          </m:r>
                          <m:r>
                            <a:rPr lang="en-US" b="0" i="1" smtClean="0">
                              <a:latin typeface="Cambria Math" panose="02040503050406030204" pitchFamily="18" charset="0"/>
                            </a:rPr>
                            <m:t>𝜋</m:t>
                          </m:r>
                          <m:r>
                            <a:rPr lang="en-US" b="0" i="1" smtClean="0">
                              <a:latin typeface="Cambria Math" panose="02040503050406030204" pitchFamily="18" charset="0"/>
                            </a:rPr>
                            <m:t>⟩</m:t>
                          </m:r>
                        </m:num>
                        <m:den>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2</m:t>
                              </m:r>
                            </m:e>
                          </m:rad>
                        </m:den>
                      </m:f>
                    </m:oMath>
                  </m:oMathPara>
                </a14:m>
                <a:endParaRPr lang="en-US" b="0" dirty="0"/>
              </a:p>
              <a:p>
                <a:pPr/>
                <a14:m>
                  <m:oMathPara xmlns:m="http://schemas.openxmlformats.org/officeDocument/2006/math">
                    <m:oMathParaPr>
                      <m:jc m:val="centerGroup"/>
                    </m:oMathParaPr>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𝑉</m:t>
                              </m:r>
                            </m:e>
                          </m:d>
                          <m:r>
                            <a:rPr lang="en-US" b="0" i="1" smtClean="0">
                              <a:latin typeface="Cambria Math" panose="02040503050406030204" pitchFamily="18" charset="0"/>
                            </a:rPr>
                            <m:t>−|</m:t>
                          </m:r>
                          <m:r>
                            <a:rPr lang="en-US" b="0" i="1" smtClean="0">
                              <a:latin typeface="Cambria Math" panose="02040503050406030204" pitchFamily="18" charset="0"/>
                            </a:rPr>
                            <m:t>𝜋</m:t>
                          </m:r>
                          <m:r>
                            <a:rPr lang="en-US" b="0" i="1" smtClean="0">
                              <a:latin typeface="Cambria Math" panose="02040503050406030204" pitchFamily="18" charset="0"/>
                            </a:rPr>
                            <m:t>⟩</m:t>
                          </m:r>
                        </m:num>
                        <m:den>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2</m:t>
                              </m:r>
                            </m:e>
                          </m:rad>
                        </m:den>
                      </m:f>
                    </m:oMath>
                  </m:oMathPara>
                </a14:m>
                <a:endParaRPr lang="en-US" b="0" dirty="0"/>
              </a:p>
              <a:p>
                <a:endParaRPr lang="en-US" dirty="0"/>
              </a:p>
              <a:p>
                <a:endParaRPr lang="en-US" b="0" dirty="0"/>
              </a:p>
              <a:p>
                <a:pPr/>
                <a14:m>
                  <m:oMathPara xmlns:m="http://schemas.openxmlformats.org/officeDocument/2006/math">
                    <m:oMathParaPr>
                      <m:jc m:val="centerGroup"/>
                    </m:oMathParaPr>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1,+</m:t>
                          </m:r>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1,+</m:t>
                          </m:r>
                        </m:e>
                      </m:d>
                    </m:oMath>
                  </m:oMathPara>
                </a14:m>
                <a:endParaRPr lang="en-US" b="0" dirty="0"/>
              </a:p>
              <a:p>
                <a:pPr/>
                <a14:m>
                  <m:oMathPara xmlns:m="http://schemas.openxmlformats.org/officeDocument/2006/math">
                    <m:oMathParaPr>
                      <m:jc m:val="centerGroup"/>
                    </m:oMathParaPr>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1,−</m:t>
                          </m:r>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1,−</m:t>
                          </m:r>
                        </m:e>
                      </m:d>
                    </m:oMath>
                  </m:oMathPara>
                </a14:m>
                <a:endParaRPr lang="en-US" b="0" dirty="0"/>
              </a:p>
              <a:p>
                <a:pPr/>
                <a14:m>
                  <m:oMathPara xmlns:m="http://schemas.openxmlformats.org/officeDocument/2006/math">
                    <m:oMathParaPr>
                      <m:jc m:val="centerGroup"/>
                    </m:oMathParaPr>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0,+</m:t>
                          </m:r>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0,−</m:t>
                          </m:r>
                        </m:e>
                      </m:d>
                    </m:oMath>
                  </m:oMathPara>
                </a14:m>
                <a:endParaRPr lang="en-US" b="0" dirty="0"/>
              </a:p>
              <a:p>
                <a:pPr/>
                <a14:m>
                  <m:oMathPara xmlns:m="http://schemas.openxmlformats.org/officeDocument/2006/math">
                    <m:oMathParaPr>
                      <m:jc m:val="centerGroup"/>
                    </m:oMathParaPr>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0,−</m:t>
                          </m:r>
                        </m:e>
                      </m:d>
                      <m:r>
                        <a:rPr lang="en-US" b="0" i="1" smtClean="0">
                          <a:latin typeface="Cambria Math" panose="02040503050406030204" pitchFamily="18" charset="0"/>
                        </a:rPr>
                        <m:t>→|0,+⟩</m:t>
                      </m:r>
                    </m:oMath>
                  </m:oMathPara>
                </a14:m>
                <a:endParaRPr lang="en-US" b="0" dirty="0"/>
              </a:p>
              <a:p>
                <a:endParaRPr lang="en-US" dirty="0">
                  <a:sym typeface="Wingdings" panose="05000000000000000000" pitchFamily="2" charset="2"/>
                </a:endParaRPr>
              </a:p>
              <a:p>
                <a:pPr algn="ctr"/>
                <a:r>
                  <a:rPr lang="en-US" dirty="0">
                    <a:sym typeface="Wingdings" panose="05000000000000000000" pitchFamily="2" charset="2"/>
                  </a:rPr>
                  <a:t> CNOT - Gate</a:t>
                </a:r>
                <a:endParaRPr lang="en-US" dirty="0"/>
              </a:p>
            </p:txBody>
          </p:sp>
        </mc:Choice>
        <mc:Fallback xmlns="">
          <p:sp>
            <p:nvSpPr>
              <p:cNvPr id="124" name="TextBox 123">
                <a:extLst>
                  <a:ext uri="{FF2B5EF4-FFF2-40B4-BE49-F238E27FC236}">
                    <a16:creationId xmlns:a16="http://schemas.microsoft.com/office/drawing/2014/main" id="{A14143CC-EC4B-1DF0-DF30-D51157597B9B}"/>
                  </a:ext>
                </a:extLst>
              </p:cNvPr>
              <p:cNvSpPr txBox="1">
                <a:spLocks noRot="1" noChangeAspect="1" noMove="1" noResize="1" noEditPoints="1" noAdjustHandles="1" noChangeArrowheads="1" noChangeShapeType="1" noTextEdit="1"/>
              </p:cNvSpPr>
              <p:nvPr/>
            </p:nvSpPr>
            <p:spPr>
              <a:xfrm>
                <a:off x="11106235" y="13939408"/>
                <a:ext cx="2852488" cy="4038157"/>
              </a:xfrm>
              <a:prstGeom prst="rect">
                <a:avLst/>
              </a:prstGeom>
              <a:blipFill>
                <a:blip r:embed="rId37"/>
                <a:stretch>
                  <a:fillRect l="-1702" t="-753" b="-1355"/>
                </a:stretch>
              </a:blipFill>
              <a:ln>
                <a:solidFill>
                  <a:schemeClr val="accent2"/>
                </a:solidFill>
              </a:ln>
            </p:spPr>
            <p:txBody>
              <a:bodyPr/>
              <a:lstStyle/>
              <a:p>
                <a:r>
                  <a:rPr lang="LID4096">
                    <a:noFill/>
                  </a:rPr>
                  <a:t> </a:t>
                </a:r>
              </a:p>
            </p:txBody>
          </p:sp>
        </mc:Fallback>
      </mc:AlternateContent>
      <p:sp>
        <p:nvSpPr>
          <p:cNvPr id="127" name="TextBox 126">
            <a:extLst>
              <a:ext uri="{FF2B5EF4-FFF2-40B4-BE49-F238E27FC236}">
                <a16:creationId xmlns:a16="http://schemas.microsoft.com/office/drawing/2014/main" id="{AAFE6111-2B3D-33FC-5ECB-2E6FB1324AF8}"/>
              </a:ext>
            </a:extLst>
          </p:cNvPr>
          <p:cNvSpPr txBox="1"/>
          <p:nvPr/>
        </p:nvSpPr>
        <p:spPr>
          <a:xfrm>
            <a:off x="8726994" y="14665261"/>
            <a:ext cx="2135932" cy="646331"/>
          </a:xfrm>
          <a:prstGeom prst="rect">
            <a:avLst/>
          </a:prstGeom>
          <a:noFill/>
        </p:spPr>
        <p:txBody>
          <a:bodyPr wrap="square" rtlCol="0">
            <a:spAutoFit/>
          </a:bodyPr>
          <a:lstStyle/>
          <a:p>
            <a:r>
              <a:rPr lang="en-US" b="1" dirty="0"/>
              <a:t>Truth tables for different bases</a:t>
            </a:r>
            <a:endParaRPr lang="LID4096" b="1" dirty="0"/>
          </a:p>
        </p:txBody>
      </p:sp>
      <p:sp>
        <p:nvSpPr>
          <p:cNvPr id="128" name="TextBox 127">
            <a:extLst>
              <a:ext uri="{FF2B5EF4-FFF2-40B4-BE49-F238E27FC236}">
                <a16:creationId xmlns:a16="http://schemas.microsoft.com/office/drawing/2014/main" id="{25B1245C-4859-69E9-DB72-ABD61702C0BC}"/>
              </a:ext>
            </a:extLst>
          </p:cNvPr>
          <p:cNvSpPr txBox="1"/>
          <p:nvPr/>
        </p:nvSpPr>
        <p:spPr>
          <a:xfrm>
            <a:off x="1715014" y="18751058"/>
            <a:ext cx="3047486" cy="743039"/>
          </a:xfrm>
          <a:prstGeom prst="rect">
            <a:avLst/>
          </a:prstGeom>
          <a:noFill/>
        </p:spPr>
        <p:txBody>
          <a:bodyPr wrap="square" rtlCol="0">
            <a:spAutoFit/>
          </a:bodyPr>
          <a:lstStyle/>
          <a:p>
            <a:endParaRPr lang="LID4096" dirty="0"/>
          </a:p>
        </p:txBody>
      </p:sp>
      <mc:AlternateContent xmlns:mc="http://schemas.openxmlformats.org/markup-compatibility/2006" xmlns:a14="http://schemas.microsoft.com/office/drawing/2010/main">
        <mc:Choice Requires="a14">
          <p:sp>
            <p:nvSpPr>
              <p:cNvPr id="129" name="TextBox 128">
                <a:extLst>
                  <a:ext uri="{FF2B5EF4-FFF2-40B4-BE49-F238E27FC236}">
                    <a16:creationId xmlns:a16="http://schemas.microsoft.com/office/drawing/2014/main" id="{A955A118-C5F6-DFA4-CCC5-F340D2B0B998}"/>
                  </a:ext>
                </a:extLst>
              </p:cNvPr>
              <p:cNvSpPr txBox="1"/>
              <p:nvPr/>
            </p:nvSpPr>
            <p:spPr>
              <a:xfrm>
                <a:off x="8826588" y="19756909"/>
                <a:ext cx="2696632" cy="738664"/>
              </a:xfrm>
              <a:prstGeom prst="rect">
                <a:avLst/>
              </a:prstGeom>
              <a:noFill/>
              <a:ln>
                <a:solidFill>
                  <a:schemeClr val="accent1"/>
                </a:solidFill>
              </a:ln>
            </p:spPr>
            <p:txBody>
              <a:bodyPr wrap="square" rtlCol="0">
                <a:spAutoFit/>
              </a:bodyPr>
              <a:lstStyle/>
              <a:p>
                <a:r>
                  <a:rPr lang="en-US" sz="1400" b="1" dirty="0"/>
                  <a:t>Brewster Plates to account for polarization dependent losses in </a:t>
                </a:r>
                <a14:m>
                  <m:oMath xmlns:m="http://schemas.openxmlformats.org/officeDocument/2006/math">
                    <m:r>
                      <a:rPr lang="en-US" sz="1400" b="1">
                        <a:latin typeface="Cambria Math" panose="02040503050406030204" pitchFamily="18" charset="0"/>
                      </a:rPr>
                      <m:t>|</m:t>
                    </m:r>
                    <m:r>
                      <a:rPr lang="en-US" sz="1400" b="1" i="1" smtClean="0">
                        <a:latin typeface="Cambria Math" panose="02040503050406030204" pitchFamily="18" charset="0"/>
                      </a:rPr>
                      <m:t>𝝅</m:t>
                    </m:r>
                    <m:r>
                      <a:rPr lang="en-US" sz="1400" b="1" i="1" smtClean="0">
                        <a:latin typeface="Cambria Math" panose="02040503050406030204" pitchFamily="18" charset="0"/>
                      </a:rPr>
                      <m:t>⟩</m:t>
                    </m:r>
                  </m:oMath>
                </a14:m>
                <a:r>
                  <a:rPr lang="en-US" sz="1400" b="1" dirty="0"/>
                  <a:t> at the cavity reflection</a:t>
                </a:r>
                <a:endParaRPr lang="LID4096" sz="1400" b="1" dirty="0"/>
              </a:p>
            </p:txBody>
          </p:sp>
        </mc:Choice>
        <mc:Fallback xmlns="">
          <p:sp>
            <p:nvSpPr>
              <p:cNvPr id="129" name="TextBox 128">
                <a:extLst>
                  <a:ext uri="{FF2B5EF4-FFF2-40B4-BE49-F238E27FC236}">
                    <a16:creationId xmlns:a16="http://schemas.microsoft.com/office/drawing/2014/main" id="{A955A118-C5F6-DFA4-CCC5-F340D2B0B998}"/>
                  </a:ext>
                </a:extLst>
              </p:cNvPr>
              <p:cNvSpPr txBox="1">
                <a:spLocks noRot="1" noChangeAspect="1" noMove="1" noResize="1" noEditPoints="1" noAdjustHandles="1" noChangeArrowheads="1" noChangeShapeType="1" noTextEdit="1"/>
              </p:cNvSpPr>
              <p:nvPr/>
            </p:nvSpPr>
            <p:spPr>
              <a:xfrm>
                <a:off x="8826588" y="19756909"/>
                <a:ext cx="2696632" cy="738664"/>
              </a:xfrm>
              <a:prstGeom prst="rect">
                <a:avLst/>
              </a:prstGeom>
              <a:blipFill>
                <a:blip r:embed="rId38"/>
                <a:stretch>
                  <a:fillRect l="-450" t="-813" b="-6504"/>
                </a:stretch>
              </a:blipFill>
              <a:ln>
                <a:solidFill>
                  <a:schemeClr val="accent1"/>
                </a:solidFill>
              </a:ln>
            </p:spPr>
            <p:txBody>
              <a:bodyPr/>
              <a:lstStyle/>
              <a:p>
                <a:r>
                  <a:rPr lang="LID4096">
                    <a:noFill/>
                  </a:rPr>
                  <a:t> </a:t>
                </a:r>
              </a:p>
            </p:txBody>
          </p:sp>
        </mc:Fallback>
      </mc:AlternateContent>
      <p:pic>
        <p:nvPicPr>
          <p:cNvPr id="131" name="Graphic 130">
            <a:extLst>
              <a:ext uri="{FF2B5EF4-FFF2-40B4-BE49-F238E27FC236}">
                <a16:creationId xmlns:a16="http://schemas.microsoft.com/office/drawing/2014/main" id="{6A9AC1FA-CF59-1662-F7DD-4602EF21F00F}"/>
              </a:ext>
            </a:extLst>
          </p:cNvPr>
          <p:cNvPicPr>
            <a:picLocks noChangeAspect="1"/>
          </p:cNvPicPr>
          <p:nvPr/>
        </p:nvPicPr>
        <p:blipFill>
          <a:blip r:embed="rId39">
            <a:extLst>
              <a:ext uri="{96DAC541-7B7A-43D3-8B79-37D633B846F1}">
                <asvg:svgBlip xmlns:asvg="http://schemas.microsoft.com/office/drawing/2016/SVG/main" r:embed="rId40"/>
              </a:ext>
            </a:extLst>
          </a:blip>
          <a:srcRect l="23960" t="23057" r="10576" b="56531"/>
          <a:stretch/>
        </p:blipFill>
        <p:spPr>
          <a:xfrm>
            <a:off x="1941543" y="18863123"/>
            <a:ext cx="11764978" cy="5188442"/>
          </a:xfrm>
          <a:prstGeom prst="rect">
            <a:avLst/>
          </a:prstGeom>
        </p:spPr>
      </p:pic>
      <mc:AlternateContent xmlns:mc="http://schemas.openxmlformats.org/markup-compatibility/2006" xmlns:a14="http://schemas.microsoft.com/office/drawing/2010/main">
        <mc:Choice Requires="a14">
          <p:sp>
            <p:nvSpPr>
              <p:cNvPr id="132" name="TextBox 131">
                <a:extLst>
                  <a:ext uri="{FF2B5EF4-FFF2-40B4-BE49-F238E27FC236}">
                    <a16:creationId xmlns:a16="http://schemas.microsoft.com/office/drawing/2014/main" id="{64995B7C-2BE3-3B14-BE79-6271A8F85DF9}"/>
                  </a:ext>
                </a:extLst>
              </p:cNvPr>
              <p:cNvSpPr txBox="1"/>
              <p:nvPr/>
            </p:nvSpPr>
            <p:spPr>
              <a:xfrm>
                <a:off x="9835086" y="22547330"/>
                <a:ext cx="4202630" cy="2031325"/>
              </a:xfrm>
              <a:prstGeom prst="rect">
                <a:avLst/>
              </a:prstGeom>
              <a:noFill/>
              <a:ln w="28575">
                <a:solidFill>
                  <a:schemeClr val="accent1"/>
                </a:solidFill>
              </a:ln>
            </p:spPr>
            <p:txBody>
              <a:bodyPr wrap="square" rtlCol="0">
                <a:spAutoFit/>
              </a:bodyPr>
              <a:lstStyle/>
              <a:p>
                <a:r>
                  <a:rPr lang="en-US" b="1" dirty="0"/>
                  <a:t>Transmission in </a:t>
                </a:r>
                <a14:m>
                  <m:oMath xmlns:m="http://schemas.openxmlformats.org/officeDocument/2006/math">
                    <m:d>
                      <m:dPr>
                        <m:begChr m:val="|"/>
                        <m:endChr m:val="⟩"/>
                        <m:ctrlPr>
                          <a:rPr lang="en-US" b="1" i="1" smtClean="0">
                            <a:latin typeface="Cambria Math" panose="02040503050406030204" pitchFamily="18" charset="0"/>
                          </a:rPr>
                        </m:ctrlPr>
                      </m:dPr>
                      <m:e>
                        <m:r>
                          <a:rPr lang="en-US" b="1" i="1" smtClean="0">
                            <a:latin typeface="Cambria Math" panose="02040503050406030204" pitchFamily="18" charset="0"/>
                          </a:rPr>
                          <m:t>𝑽</m:t>
                        </m:r>
                      </m:e>
                    </m:d>
                  </m:oMath>
                </a14:m>
                <a:r>
                  <a:rPr lang="en-US" b="1" dirty="0"/>
                  <a:t> after N </a:t>
                </a:r>
                <a:r>
                  <a:rPr lang="en-US" b="1" dirty="0" err="1"/>
                  <a:t>brewster</a:t>
                </a:r>
                <a:r>
                  <a:rPr lang="en-US" b="1" dirty="0"/>
                  <a:t> plates:</a:t>
                </a:r>
              </a:p>
              <a:p>
                <a:r>
                  <a:rPr lang="en-US" dirty="0"/>
                  <a:t>…</a:t>
                </a:r>
              </a:p>
              <a:p>
                <a:pPr marL="285750" indent="-285750">
                  <a:buFont typeface="Arial" panose="020B0604020202020204" pitchFamily="34" charset="0"/>
                  <a:buChar char="•"/>
                </a:pPr>
                <a:r>
                  <a:rPr lang="en-US" dirty="0"/>
                  <a:t>5 BW: </a:t>
                </a:r>
                <a14:m>
                  <m:oMath xmlns:m="http://schemas.openxmlformats.org/officeDocument/2006/math">
                    <m:r>
                      <a:rPr lang="en-US" b="0" i="1" smtClean="0">
                        <a:latin typeface="Cambria Math" panose="02040503050406030204" pitchFamily="18" charset="0"/>
                      </a:rPr>
                      <m:t>31.82%±0.10%</m:t>
                    </m:r>
                  </m:oMath>
                </a14:m>
                <a:endParaRPr lang="en-US" b="0" dirty="0"/>
              </a:p>
              <a:p>
                <a:pPr marL="285750" indent="-285750">
                  <a:buFont typeface="Arial" panose="020B0604020202020204" pitchFamily="34" charset="0"/>
                  <a:buChar char="•"/>
                </a:pPr>
                <a:r>
                  <a:rPr lang="en-US" dirty="0"/>
                  <a:t>6 BW: </a:t>
                </a:r>
                <a14:m>
                  <m:oMath xmlns:m="http://schemas.openxmlformats.org/officeDocument/2006/math">
                    <m:r>
                      <a:rPr lang="en-US" b="0" i="1" smtClean="0">
                        <a:latin typeface="Cambria Math" panose="02040503050406030204" pitchFamily="18" charset="0"/>
                      </a:rPr>
                      <m:t>26.80%±0.06%</m:t>
                    </m:r>
                  </m:oMath>
                </a14:m>
                <a:endParaRPr lang="en-US" b="0" dirty="0"/>
              </a:p>
              <a:p>
                <a:pPr marL="285750" indent="-285750">
                  <a:buFont typeface="Arial" panose="020B0604020202020204" pitchFamily="34" charset="0"/>
                  <a:buChar char="•"/>
                </a:pPr>
                <a:r>
                  <a:rPr lang="en-US" b="0" dirty="0"/>
                  <a:t>7 BW: </a:t>
                </a:r>
                <a14:m>
                  <m:oMath xmlns:m="http://schemas.openxmlformats.org/officeDocument/2006/math">
                    <m:r>
                      <a:rPr lang="en-US" b="0" i="1" smtClean="0">
                        <a:latin typeface="Cambria Math" panose="02040503050406030204" pitchFamily="18" charset="0"/>
                      </a:rPr>
                      <m:t>22.47%±0.04%</m:t>
                    </m:r>
                  </m:oMath>
                </a14:m>
                <a:endParaRPr lang="en-US" b="0" dirty="0"/>
              </a:p>
              <a:p>
                <a:pPr marL="285750" indent="-285750">
                  <a:buFont typeface="Arial" panose="020B0604020202020204" pitchFamily="34" charset="0"/>
                  <a:buChar char="•"/>
                </a:pPr>
                <a:r>
                  <a:rPr lang="en-US" b="0" dirty="0"/>
                  <a:t>8 BW: </a:t>
                </a:r>
                <a14:m>
                  <m:oMath xmlns:m="http://schemas.openxmlformats.org/officeDocument/2006/math">
                    <m:r>
                      <a:rPr lang="en-US" b="0" i="1" smtClean="0">
                        <a:latin typeface="Cambria Math" panose="02040503050406030204" pitchFamily="18" charset="0"/>
                      </a:rPr>
                      <m:t>16.56%±0.04%</m:t>
                    </m:r>
                  </m:oMath>
                </a14:m>
                <a:endParaRPr lang="en-US" b="0" dirty="0"/>
              </a:p>
            </p:txBody>
          </p:sp>
        </mc:Choice>
        <mc:Fallback xmlns="">
          <p:sp>
            <p:nvSpPr>
              <p:cNvPr id="132" name="TextBox 131">
                <a:extLst>
                  <a:ext uri="{FF2B5EF4-FFF2-40B4-BE49-F238E27FC236}">
                    <a16:creationId xmlns:a16="http://schemas.microsoft.com/office/drawing/2014/main" id="{64995B7C-2BE3-3B14-BE79-6271A8F85DF9}"/>
                  </a:ext>
                </a:extLst>
              </p:cNvPr>
              <p:cNvSpPr txBox="1">
                <a:spLocks noRot="1" noChangeAspect="1" noMove="1" noResize="1" noEditPoints="1" noAdjustHandles="1" noChangeArrowheads="1" noChangeShapeType="1" noTextEdit="1"/>
              </p:cNvSpPr>
              <p:nvPr/>
            </p:nvSpPr>
            <p:spPr>
              <a:xfrm>
                <a:off x="9835086" y="22547330"/>
                <a:ext cx="4202630" cy="2031325"/>
              </a:xfrm>
              <a:prstGeom prst="rect">
                <a:avLst/>
              </a:prstGeom>
              <a:blipFill>
                <a:blip r:embed="rId41"/>
                <a:stretch>
                  <a:fillRect l="-863" t="-1183" b="-2959"/>
                </a:stretch>
              </a:blipFill>
              <a:ln w="28575">
                <a:solidFill>
                  <a:schemeClr val="accent1"/>
                </a:solidFill>
              </a:ln>
            </p:spPr>
            <p:txBody>
              <a:bodyPr/>
              <a:lstStyle/>
              <a:p>
                <a:r>
                  <a:rPr lang="LID4096">
                    <a:noFill/>
                  </a:rPr>
                  <a:t> </a:t>
                </a:r>
              </a:p>
            </p:txBody>
          </p:sp>
        </mc:Fallback>
      </mc:AlternateContent>
      <p:pic>
        <p:nvPicPr>
          <p:cNvPr id="134" name="Graphic 133">
            <a:extLst>
              <a:ext uri="{FF2B5EF4-FFF2-40B4-BE49-F238E27FC236}">
                <a16:creationId xmlns:a16="http://schemas.microsoft.com/office/drawing/2014/main" id="{01C7AA16-D19E-E2CB-5B91-486C374B28C8}"/>
              </a:ext>
            </a:extLst>
          </p:cNvPr>
          <p:cNvPicPr>
            <a:picLocks noChangeAspect="1"/>
          </p:cNvPicPr>
          <p:nvPr/>
        </p:nvPicPr>
        <p:blipFill>
          <a:blip r:embed="rId42">
            <a:extLst>
              <a:ext uri="{96DAC541-7B7A-43D3-8B79-37D633B846F1}">
                <asvg:svgBlip xmlns:asvg="http://schemas.microsoft.com/office/drawing/2016/SVG/main" r:embed="rId43"/>
              </a:ext>
            </a:extLst>
          </a:blip>
          <a:srcRect/>
          <a:stretch/>
        </p:blipFill>
        <p:spPr>
          <a:xfrm>
            <a:off x="15230814" y="21273200"/>
            <a:ext cx="7295532" cy="1823883"/>
          </a:xfrm>
          <a:prstGeom prst="rect">
            <a:avLst/>
          </a:prstGeom>
        </p:spPr>
      </p:pic>
      <p:sp>
        <p:nvSpPr>
          <p:cNvPr id="137" name="TextBox 136">
            <a:extLst>
              <a:ext uri="{FF2B5EF4-FFF2-40B4-BE49-F238E27FC236}">
                <a16:creationId xmlns:a16="http://schemas.microsoft.com/office/drawing/2014/main" id="{FF89BB6C-BEE2-26FA-EC66-125AA92A0AFA}"/>
              </a:ext>
            </a:extLst>
          </p:cNvPr>
          <p:cNvSpPr txBox="1"/>
          <p:nvPr/>
        </p:nvSpPr>
        <p:spPr>
          <a:xfrm>
            <a:off x="15275084" y="20808298"/>
            <a:ext cx="2564592" cy="646331"/>
          </a:xfrm>
          <a:prstGeom prst="rect">
            <a:avLst/>
          </a:prstGeom>
          <a:noFill/>
        </p:spPr>
        <p:txBody>
          <a:bodyPr wrap="square" rtlCol="0">
            <a:spAutoFit/>
          </a:bodyPr>
          <a:lstStyle/>
          <a:p>
            <a:r>
              <a:rPr lang="en-US" dirty="0"/>
              <a:t>Experimental Sequence for the Gate:</a:t>
            </a:r>
            <a:endParaRPr lang="LID4096" dirty="0"/>
          </a:p>
        </p:txBody>
      </p:sp>
      <mc:AlternateContent xmlns:mc="http://schemas.openxmlformats.org/markup-compatibility/2006" xmlns:a14="http://schemas.microsoft.com/office/drawing/2010/main">
        <mc:Choice Requires="a14">
          <p:sp>
            <p:nvSpPr>
              <p:cNvPr id="138" name="TextBox 137">
                <a:extLst>
                  <a:ext uri="{FF2B5EF4-FFF2-40B4-BE49-F238E27FC236}">
                    <a16:creationId xmlns:a16="http://schemas.microsoft.com/office/drawing/2014/main" id="{A5A1D277-322A-F67F-2721-02E932078B0E}"/>
                  </a:ext>
                </a:extLst>
              </p:cNvPr>
              <p:cNvSpPr txBox="1"/>
              <p:nvPr/>
            </p:nvSpPr>
            <p:spPr>
              <a:xfrm>
                <a:off x="22724011" y="15322553"/>
                <a:ext cx="6877050" cy="688330"/>
              </a:xfrm>
              <a:prstGeom prst="rect">
                <a:avLst/>
              </a:prstGeom>
              <a:noFill/>
            </p:spPr>
            <p:txBody>
              <a:bodyPr wrap="square" rtlCol="0">
                <a:spAutoFit/>
              </a:bodyPr>
              <a:lstStyle/>
              <a:p>
                <a:r>
                  <a:rPr lang="en-US" dirty="0"/>
                  <a:t>Determining coupling constant of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𝐹</m:t>
                        </m:r>
                        <m:r>
                          <a:rPr lang="en-US" b="0" i="1" smtClean="0">
                            <a:latin typeface="Cambria Math" panose="02040503050406030204" pitchFamily="18" charset="0"/>
                          </a:rPr>
                          <m:t>=2,</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𝑚</m:t>
                            </m:r>
                          </m:e>
                          <m:sub>
                            <m:r>
                              <a:rPr lang="en-US" b="0" i="1" smtClean="0">
                                <a:latin typeface="Cambria Math" panose="02040503050406030204" pitchFamily="18" charset="0"/>
                              </a:rPr>
                              <m:t>𝑓</m:t>
                            </m:r>
                          </m:sub>
                        </m:sSub>
                        <m:r>
                          <a:rPr lang="en-US" b="0" i="1" smtClean="0">
                            <a:latin typeface="Cambria Math" panose="02040503050406030204" pitchFamily="18" charset="0"/>
                          </a:rPr>
                          <m:t>=0</m:t>
                        </m:r>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𝐹</m:t>
                            </m:r>
                          </m:e>
                          <m:sup>
                            <m:r>
                              <a:rPr lang="en-US" b="0" i="1" smtClean="0">
                                <a:latin typeface="Cambria Math" panose="02040503050406030204" pitchFamily="18" charset="0"/>
                              </a:rPr>
                              <m:t>′</m:t>
                            </m:r>
                          </m:sup>
                        </m:sSup>
                        <m:r>
                          <a:rPr lang="en-US" b="0" i="1" smtClean="0">
                            <a:latin typeface="Cambria Math" panose="02040503050406030204" pitchFamily="18" charset="0"/>
                          </a:rPr>
                          <m:t>=1,</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𝑚</m:t>
                            </m:r>
                          </m:e>
                          <m:sub>
                            <m:r>
                              <a:rPr lang="en-US" b="0" i="1" smtClean="0">
                                <a:latin typeface="Cambria Math" panose="02040503050406030204" pitchFamily="18" charset="0"/>
                              </a:rPr>
                              <m:t>𝑓</m:t>
                            </m:r>
                          </m:sub>
                        </m:sSub>
                        <m:r>
                          <a:rPr lang="en-US" b="0" i="1" smtClean="0">
                            <a:latin typeface="Cambria Math" panose="02040503050406030204" pitchFamily="18" charset="0"/>
                          </a:rPr>
                          <m:t>=0</m:t>
                        </m:r>
                      </m:e>
                    </m:d>
                  </m:oMath>
                </a14:m>
                <a:r>
                  <a:rPr lang="en-US" b="0" dirty="0"/>
                  <a:t>:</a:t>
                </a:r>
              </a:p>
              <a:p>
                <a:endParaRPr lang="LID4096" dirty="0"/>
              </a:p>
            </p:txBody>
          </p:sp>
        </mc:Choice>
        <mc:Fallback xmlns="">
          <p:sp>
            <p:nvSpPr>
              <p:cNvPr id="138" name="TextBox 137">
                <a:extLst>
                  <a:ext uri="{FF2B5EF4-FFF2-40B4-BE49-F238E27FC236}">
                    <a16:creationId xmlns:a16="http://schemas.microsoft.com/office/drawing/2014/main" id="{A5A1D277-322A-F67F-2721-02E932078B0E}"/>
                  </a:ext>
                </a:extLst>
              </p:cNvPr>
              <p:cNvSpPr txBox="1">
                <a:spLocks noRot="1" noChangeAspect="1" noMove="1" noResize="1" noEditPoints="1" noAdjustHandles="1" noChangeArrowheads="1" noChangeShapeType="1" noTextEdit="1"/>
              </p:cNvSpPr>
              <p:nvPr/>
            </p:nvSpPr>
            <p:spPr>
              <a:xfrm>
                <a:off x="22724011" y="15322553"/>
                <a:ext cx="6877050" cy="688330"/>
              </a:xfrm>
              <a:prstGeom prst="rect">
                <a:avLst/>
              </a:prstGeom>
              <a:blipFill>
                <a:blip r:embed="rId44"/>
                <a:stretch>
                  <a:fillRect l="-798" t="-1786" r="-532"/>
                </a:stretch>
              </a:blipFill>
            </p:spPr>
            <p:txBody>
              <a:bodyPr/>
              <a:lstStyle/>
              <a:p>
                <a:r>
                  <a:rPr lang="LID4096">
                    <a:noFill/>
                  </a:rPr>
                  <a:t> </a:t>
                </a:r>
              </a:p>
            </p:txBody>
          </p:sp>
        </mc:Fallback>
      </mc:AlternateContent>
      <p:pic>
        <p:nvPicPr>
          <p:cNvPr id="140" name="Graphic 139">
            <a:extLst>
              <a:ext uri="{FF2B5EF4-FFF2-40B4-BE49-F238E27FC236}">
                <a16:creationId xmlns:a16="http://schemas.microsoft.com/office/drawing/2014/main" id="{9DB50F32-2500-101B-A396-AEEA59412E70}"/>
              </a:ext>
            </a:extLst>
          </p:cNvPr>
          <p:cNvPicPr>
            <a:picLocks noChangeAspect="1"/>
          </p:cNvPicPr>
          <p:nvPr/>
        </p:nvPicPr>
        <p:blipFill>
          <a:blip r:embed="rId45">
            <a:extLst>
              <a:ext uri="{96DAC541-7B7A-43D3-8B79-37D633B846F1}">
                <asvg:svgBlip xmlns:asvg="http://schemas.microsoft.com/office/drawing/2016/SVG/main" r:embed="rId46"/>
              </a:ext>
            </a:extLst>
          </a:blip>
          <a:srcRect/>
          <a:stretch/>
        </p:blipFill>
        <p:spPr>
          <a:xfrm>
            <a:off x="22526346" y="15805561"/>
            <a:ext cx="7006327" cy="3326829"/>
          </a:xfrm>
          <a:prstGeom prst="rect">
            <a:avLst/>
          </a:prstGeom>
        </p:spPr>
      </p:pic>
      <p:pic>
        <p:nvPicPr>
          <p:cNvPr id="143" name="Graphic 142">
            <a:extLst>
              <a:ext uri="{FF2B5EF4-FFF2-40B4-BE49-F238E27FC236}">
                <a16:creationId xmlns:a16="http://schemas.microsoft.com/office/drawing/2014/main" id="{D5C811AB-683C-ED0C-936B-41C09912720C}"/>
              </a:ext>
            </a:extLst>
          </p:cNvPr>
          <p:cNvPicPr>
            <a:picLocks noChangeAspect="1"/>
          </p:cNvPicPr>
          <p:nvPr/>
        </p:nvPicPr>
        <p:blipFill>
          <a:blip r:embed="rId47">
            <a:extLst>
              <a:ext uri="{96DAC541-7B7A-43D3-8B79-37D633B846F1}">
                <asvg:svgBlip xmlns:asvg="http://schemas.microsoft.com/office/drawing/2016/SVG/main" r:embed="rId48"/>
              </a:ext>
            </a:extLst>
          </a:blip>
          <a:stretch>
            <a:fillRect/>
          </a:stretch>
        </p:blipFill>
        <p:spPr>
          <a:xfrm>
            <a:off x="17649820" y="19579688"/>
            <a:ext cx="2522692" cy="1282296"/>
          </a:xfrm>
          <a:prstGeom prst="rect">
            <a:avLst/>
          </a:prstGeom>
        </p:spPr>
      </p:pic>
      <p:sp>
        <p:nvSpPr>
          <p:cNvPr id="146" name="Trapezoid 145">
            <a:extLst>
              <a:ext uri="{FF2B5EF4-FFF2-40B4-BE49-F238E27FC236}">
                <a16:creationId xmlns:a16="http://schemas.microsoft.com/office/drawing/2014/main" id="{39354EE7-DC58-D3C6-5CBB-527DFAF6EEFA}"/>
              </a:ext>
            </a:extLst>
          </p:cNvPr>
          <p:cNvSpPr/>
          <p:nvPr/>
        </p:nvSpPr>
        <p:spPr>
          <a:xfrm rot="10800000">
            <a:off x="17649821" y="20860299"/>
            <a:ext cx="2522691" cy="907848"/>
          </a:xfrm>
          <a:prstGeom prst="trapezoid">
            <a:avLst>
              <a:gd name="adj" fmla="val 37615"/>
            </a:avLst>
          </a:prstGeom>
          <a:solidFill>
            <a:schemeClr val="accent1">
              <a:lumMod val="40000"/>
              <a:lumOff val="60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LID4096"/>
          </a:p>
        </p:txBody>
      </p:sp>
      <p:sp>
        <p:nvSpPr>
          <p:cNvPr id="147" name="Rectangle 146">
            <a:extLst>
              <a:ext uri="{FF2B5EF4-FFF2-40B4-BE49-F238E27FC236}">
                <a16:creationId xmlns:a16="http://schemas.microsoft.com/office/drawing/2014/main" id="{45033E59-A6AE-97A7-93FD-21CD23923FD1}"/>
              </a:ext>
            </a:extLst>
          </p:cNvPr>
          <p:cNvSpPr/>
          <p:nvPr/>
        </p:nvSpPr>
        <p:spPr>
          <a:xfrm>
            <a:off x="17649820" y="19541520"/>
            <a:ext cx="2522692" cy="1318779"/>
          </a:xfrm>
          <a:prstGeom prst="rect">
            <a:avLst/>
          </a:prstGeom>
          <a:noFill/>
          <a:ln w="3175">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pic>
        <p:nvPicPr>
          <p:cNvPr id="148" name="Picture 147">
            <a:extLst>
              <a:ext uri="{FF2B5EF4-FFF2-40B4-BE49-F238E27FC236}">
                <a16:creationId xmlns:a16="http://schemas.microsoft.com/office/drawing/2014/main" id="{EEBA8331-9272-4E10-A332-3952F9259D92}"/>
              </a:ext>
            </a:extLst>
          </p:cNvPr>
          <p:cNvPicPr>
            <a:picLocks noChangeAspect="1"/>
          </p:cNvPicPr>
          <p:nvPr/>
        </p:nvPicPr>
        <p:blipFill>
          <a:blip r:embed="rId49"/>
          <a:stretch>
            <a:fillRect/>
          </a:stretch>
        </p:blipFill>
        <p:spPr>
          <a:xfrm>
            <a:off x="20317273" y="19427870"/>
            <a:ext cx="2538704" cy="1788078"/>
          </a:xfrm>
          <a:prstGeom prst="rect">
            <a:avLst/>
          </a:prstGeom>
          <a:ln>
            <a:solidFill>
              <a:schemeClr val="accent1">
                <a:lumMod val="40000"/>
                <a:lumOff val="60000"/>
              </a:schemeClr>
            </a:solidFill>
          </a:ln>
        </p:spPr>
      </p:pic>
      <p:sp>
        <p:nvSpPr>
          <p:cNvPr id="149" name="Trapezoid 148">
            <a:extLst>
              <a:ext uri="{FF2B5EF4-FFF2-40B4-BE49-F238E27FC236}">
                <a16:creationId xmlns:a16="http://schemas.microsoft.com/office/drawing/2014/main" id="{BDFAA8F2-6AB7-D600-C5B4-10CF87F48D93}"/>
              </a:ext>
            </a:extLst>
          </p:cNvPr>
          <p:cNvSpPr/>
          <p:nvPr/>
        </p:nvSpPr>
        <p:spPr>
          <a:xfrm rot="10800000">
            <a:off x="20317273" y="21215948"/>
            <a:ext cx="2538703" cy="548241"/>
          </a:xfrm>
          <a:prstGeom prst="trapezoid">
            <a:avLst>
              <a:gd name="adj" fmla="val 125554"/>
            </a:avLst>
          </a:prstGeom>
          <a:solidFill>
            <a:schemeClr val="accent1">
              <a:lumMod val="40000"/>
              <a:lumOff val="60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LID4096"/>
          </a:p>
        </p:txBody>
      </p:sp>
      <p:pic>
        <p:nvPicPr>
          <p:cNvPr id="159" name="Graphic 158">
            <a:extLst>
              <a:ext uri="{FF2B5EF4-FFF2-40B4-BE49-F238E27FC236}">
                <a16:creationId xmlns:a16="http://schemas.microsoft.com/office/drawing/2014/main" id="{592EBD1B-B814-0570-FE61-82BDDA599D6B}"/>
              </a:ext>
            </a:extLst>
          </p:cNvPr>
          <p:cNvPicPr>
            <a:picLocks noChangeAspect="1"/>
          </p:cNvPicPr>
          <p:nvPr/>
        </p:nvPicPr>
        <p:blipFill>
          <a:blip r:embed="rId50">
            <a:extLst>
              <a:ext uri="{96DAC541-7B7A-43D3-8B79-37D633B846F1}">
                <asvg:svgBlip xmlns:asvg="http://schemas.microsoft.com/office/drawing/2016/SVG/main" r:embed="rId51"/>
              </a:ext>
            </a:extLst>
          </a:blip>
          <a:stretch>
            <a:fillRect/>
          </a:stretch>
        </p:blipFill>
        <p:spPr>
          <a:xfrm>
            <a:off x="23705118" y="19768674"/>
            <a:ext cx="5243387" cy="3337522"/>
          </a:xfrm>
          <a:prstGeom prst="rect">
            <a:avLst/>
          </a:prstGeom>
        </p:spPr>
      </p:pic>
      <mc:AlternateContent xmlns:mc="http://schemas.openxmlformats.org/markup-compatibility/2006" xmlns:a14="http://schemas.microsoft.com/office/drawing/2010/main">
        <mc:Choice Requires="a14">
          <p:sp>
            <p:nvSpPr>
              <p:cNvPr id="160" name="TextBox 159">
                <a:extLst>
                  <a:ext uri="{FF2B5EF4-FFF2-40B4-BE49-F238E27FC236}">
                    <a16:creationId xmlns:a16="http://schemas.microsoft.com/office/drawing/2014/main" id="{DF45E5FF-315C-43C5-C0F1-9354C4DC2009}"/>
                  </a:ext>
                </a:extLst>
              </p:cNvPr>
              <p:cNvSpPr txBox="1"/>
              <p:nvPr/>
            </p:nvSpPr>
            <p:spPr>
              <a:xfrm>
                <a:off x="23671491" y="19070532"/>
                <a:ext cx="5548249" cy="646331"/>
              </a:xfrm>
              <a:prstGeom prst="rect">
                <a:avLst/>
              </a:prstGeom>
              <a:noFill/>
            </p:spPr>
            <p:txBody>
              <a:bodyPr wrap="square" rtlCol="0">
                <a:spAutoFit/>
              </a:bodyPr>
              <a:lstStyle/>
              <a:p>
                <a:r>
                  <a:rPr lang="en-US" dirty="0"/>
                  <a:t>Determine ideal attenuation of V polarized light to balance output polarization in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m:t>
                        </m:r>
                      </m:e>
                    </m:d>
                  </m:oMath>
                </a14:m>
                <a:r>
                  <a:rPr lang="en-US" b="0" dirty="0"/>
                  <a:t> basis</a:t>
                </a:r>
              </a:p>
            </p:txBody>
          </p:sp>
        </mc:Choice>
        <mc:Fallback xmlns="">
          <p:sp>
            <p:nvSpPr>
              <p:cNvPr id="160" name="TextBox 159">
                <a:extLst>
                  <a:ext uri="{FF2B5EF4-FFF2-40B4-BE49-F238E27FC236}">
                    <a16:creationId xmlns:a16="http://schemas.microsoft.com/office/drawing/2014/main" id="{DF45E5FF-315C-43C5-C0F1-9354C4DC2009}"/>
                  </a:ext>
                </a:extLst>
              </p:cNvPr>
              <p:cNvSpPr txBox="1">
                <a:spLocks noRot="1" noChangeAspect="1" noMove="1" noResize="1" noEditPoints="1" noAdjustHandles="1" noChangeArrowheads="1" noChangeShapeType="1" noTextEdit="1"/>
              </p:cNvSpPr>
              <p:nvPr/>
            </p:nvSpPr>
            <p:spPr>
              <a:xfrm>
                <a:off x="23671491" y="19070532"/>
                <a:ext cx="5548249" cy="646331"/>
              </a:xfrm>
              <a:prstGeom prst="rect">
                <a:avLst/>
              </a:prstGeom>
              <a:blipFill>
                <a:blip r:embed="rId52"/>
                <a:stretch>
                  <a:fillRect l="-879" t="-4717" b="-14151"/>
                </a:stretch>
              </a:blipFill>
            </p:spPr>
            <p:txBody>
              <a:bodyPr/>
              <a:lstStyle/>
              <a:p>
                <a:r>
                  <a:rPr lang="LID4096">
                    <a:noFill/>
                  </a:rPr>
                  <a:t> </a:t>
                </a:r>
              </a:p>
            </p:txBody>
          </p:sp>
        </mc:Fallback>
      </mc:AlternateContent>
      <p:sp>
        <p:nvSpPr>
          <p:cNvPr id="161" name="Rectangle 160">
            <a:extLst>
              <a:ext uri="{FF2B5EF4-FFF2-40B4-BE49-F238E27FC236}">
                <a16:creationId xmlns:a16="http://schemas.microsoft.com/office/drawing/2014/main" id="{BB940392-18BD-C223-03E5-CF2881513B07}"/>
              </a:ext>
            </a:extLst>
          </p:cNvPr>
          <p:cNvSpPr/>
          <p:nvPr/>
        </p:nvSpPr>
        <p:spPr>
          <a:xfrm>
            <a:off x="23563321" y="19694099"/>
            <a:ext cx="5335246" cy="3427547"/>
          </a:xfrm>
          <a:prstGeom prst="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pic>
        <p:nvPicPr>
          <p:cNvPr id="2820" name="Graphic 2819">
            <a:extLst>
              <a:ext uri="{FF2B5EF4-FFF2-40B4-BE49-F238E27FC236}">
                <a16:creationId xmlns:a16="http://schemas.microsoft.com/office/drawing/2014/main" id="{AD350B77-1008-7E25-0660-FCC4FA531FC0}"/>
              </a:ext>
            </a:extLst>
          </p:cNvPr>
          <p:cNvPicPr>
            <a:picLocks noChangeAspect="1"/>
          </p:cNvPicPr>
          <p:nvPr/>
        </p:nvPicPr>
        <p:blipFill>
          <a:blip r:embed="rId53">
            <a:extLst>
              <a:ext uri="{96DAC541-7B7A-43D3-8B79-37D633B846F1}">
                <asvg:svgBlip xmlns:asvg="http://schemas.microsoft.com/office/drawing/2016/SVG/main" r:embed="rId54"/>
              </a:ext>
            </a:extLst>
          </a:blip>
          <a:srcRect l="21837" t="8907" b="10544"/>
          <a:stretch/>
        </p:blipFill>
        <p:spPr>
          <a:xfrm>
            <a:off x="1715014" y="27550775"/>
            <a:ext cx="3960072" cy="4121977"/>
          </a:xfrm>
          <a:prstGeom prst="rect">
            <a:avLst/>
          </a:prstGeom>
        </p:spPr>
      </p:pic>
      <mc:AlternateContent xmlns:mc="http://schemas.openxmlformats.org/markup-compatibility/2006" xmlns:a14="http://schemas.microsoft.com/office/drawing/2010/main">
        <mc:Choice Requires="a14">
          <p:sp>
            <p:nvSpPr>
              <p:cNvPr id="2821" name="TextBox 2820">
                <a:extLst>
                  <a:ext uri="{FF2B5EF4-FFF2-40B4-BE49-F238E27FC236}">
                    <a16:creationId xmlns:a16="http://schemas.microsoft.com/office/drawing/2014/main" id="{462DB12B-AEAB-3107-1384-F37A93565EDF}"/>
                  </a:ext>
                </a:extLst>
              </p:cNvPr>
              <p:cNvSpPr txBox="1"/>
              <p:nvPr/>
            </p:nvSpPr>
            <p:spPr>
              <a:xfrm>
                <a:off x="1142778" y="26105082"/>
                <a:ext cx="4687030" cy="1477328"/>
              </a:xfrm>
              <a:prstGeom prst="rect">
                <a:avLst/>
              </a:prstGeom>
              <a:noFill/>
            </p:spPr>
            <p:txBody>
              <a:bodyPr wrap="square" rtlCol="0">
                <a:spAutoFit/>
              </a:bodyPr>
              <a:lstStyle/>
              <a:p>
                <a:r>
                  <a:rPr lang="en-US" dirty="0"/>
                  <a:t>After determining that 7 </a:t>
                </a:r>
                <a:r>
                  <a:rPr lang="en-US" dirty="0" err="1"/>
                  <a:t>brewster</a:t>
                </a:r>
                <a:r>
                  <a:rPr lang="en-US" dirty="0"/>
                  <a:t> windows allow us to reach the highest fidelity, we first performed the reflection without the atom but while putting the cavity on resonance to the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𝜋</m:t>
                        </m:r>
                      </m:e>
                    </m:d>
                  </m:oMath>
                </a14:m>
                <a:endParaRPr lang="en-US" b="0" dirty="0"/>
              </a:p>
              <a:p>
                <a:r>
                  <a:rPr lang="en-US" dirty="0"/>
                  <a:t>mode</a:t>
                </a:r>
                <a:endParaRPr lang="LID4096" dirty="0"/>
              </a:p>
            </p:txBody>
          </p:sp>
        </mc:Choice>
        <mc:Fallback xmlns="">
          <p:sp>
            <p:nvSpPr>
              <p:cNvPr id="2821" name="TextBox 2820">
                <a:extLst>
                  <a:ext uri="{FF2B5EF4-FFF2-40B4-BE49-F238E27FC236}">
                    <a16:creationId xmlns:a16="http://schemas.microsoft.com/office/drawing/2014/main" id="{462DB12B-AEAB-3107-1384-F37A93565EDF}"/>
                  </a:ext>
                </a:extLst>
              </p:cNvPr>
              <p:cNvSpPr txBox="1">
                <a:spLocks noRot="1" noChangeAspect="1" noMove="1" noResize="1" noEditPoints="1" noAdjustHandles="1" noChangeArrowheads="1" noChangeShapeType="1" noTextEdit="1"/>
              </p:cNvSpPr>
              <p:nvPr/>
            </p:nvSpPr>
            <p:spPr>
              <a:xfrm>
                <a:off x="1142778" y="26105082"/>
                <a:ext cx="4687030" cy="1477328"/>
              </a:xfrm>
              <a:prstGeom prst="rect">
                <a:avLst/>
              </a:prstGeom>
              <a:blipFill>
                <a:blip r:embed="rId55"/>
                <a:stretch>
                  <a:fillRect l="-1040" t="-2058" b="-5350"/>
                </a:stretch>
              </a:blipFill>
            </p:spPr>
            <p:txBody>
              <a:bodyPr/>
              <a:lstStyle/>
              <a:p>
                <a:r>
                  <a:rPr lang="LID4096">
                    <a:noFill/>
                  </a:rPr>
                  <a:t> </a:t>
                </a:r>
              </a:p>
            </p:txBody>
          </p:sp>
        </mc:Fallback>
      </mc:AlternateContent>
      <p:sp>
        <p:nvSpPr>
          <p:cNvPr id="83" name="TextBox 82">
            <a:extLst>
              <a:ext uri="{FF2B5EF4-FFF2-40B4-BE49-F238E27FC236}">
                <a16:creationId xmlns:a16="http://schemas.microsoft.com/office/drawing/2014/main" id="{8E8645E5-22E6-7F88-24BE-F2EA7898C5E5}"/>
              </a:ext>
            </a:extLst>
          </p:cNvPr>
          <p:cNvSpPr txBox="1"/>
          <p:nvPr/>
        </p:nvSpPr>
        <p:spPr>
          <a:xfrm>
            <a:off x="1629726" y="31299109"/>
            <a:ext cx="3680750" cy="584775"/>
          </a:xfrm>
          <a:prstGeom prst="rect">
            <a:avLst/>
          </a:prstGeom>
          <a:noFill/>
          <a:ln w="38100">
            <a:solidFill>
              <a:schemeClr val="accent1"/>
            </a:solidFill>
          </a:ln>
        </p:spPr>
        <p:txBody>
          <a:bodyPr wrap="square" rtlCol="0">
            <a:spAutoFit/>
          </a:bodyPr>
          <a:lstStyle/>
          <a:p>
            <a:r>
              <a:rPr lang="en-US" sz="3200" dirty="0"/>
              <a:t>Overlap = 97.43(3) %</a:t>
            </a:r>
            <a:endParaRPr lang="LID4096" sz="3200" dirty="0"/>
          </a:p>
        </p:txBody>
      </p:sp>
      <mc:AlternateContent xmlns:mc="http://schemas.openxmlformats.org/markup-compatibility/2006" xmlns:a14="http://schemas.microsoft.com/office/drawing/2010/main">
        <mc:Choice Requires="a14">
          <p:sp>
            <p:nvSpPr>
              <p:cNvPr id="2822" name="TextBox 2821">
                <a:extLst>
                  <a:ext uri="{FF2B5EF4-FFF2-40B4-BE49-F238E27FC236}">
                    <a16:creationId xmlns:a16="http://schemas.microsoft.com/office/drawing/2014/main" id="{44EBD47A-41D7-23FD-394F-C2CE4F3CA001}"/>
                  </a:ext>
                </a:extLst>
              </p:cNvPr>
              <p:cNvSpPr txBox="1"/>
              <p:nvPr/>
            </p:nvSpPr>
            <p:spPr>
              <a:xfrm>
                <a:off x="6994670" y="26049304"/>
                <a:ext cx="6764184" cy="1200329"/>
              </a:xfrm>
              <a:prstGeom prst="rect">
                <a:avLst/>
              </a:prstGeom>
              <a:noFill/>
            </p:spPr>
            <p:txBody>
              <a:bodyPr wrap="square" rtlCol="0">
                <a:spAutoFit/>
              </a:bodyPr>
              <a:lstStyle/>
              <a:p>
                <a:r>
                  <a:rPr lang="en-US" dirty="0"/>
                  <a:t>Then perform the experiment with the same amount of </a:t>
                </a:r>
                <a:r>
                  <a:rPr lang="en-US" dirty="0" err="1"/>
                  <a:t>brewster</a:t>
                </a:r>
                <a:r>
                  <a:rPr lang="en-US" dirty="0"/>
                  <a:t> windows but now with the trapped atom in the cavity first in the CPHASE basis (sending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𝜋</m:t>
                    </m:r>
                    <m:r>
                      <a:rPr lang="en-US" b="0" i="1" smtClean="0">
                        <a:latin typeface="Cambria Math" panose="02040503050406030204" pitchFamily="18" charset="0"/>
                      </a:rPr>
                      <m:t>/</m:t>
                    </m:r>
                    <m:r>
                      <a:rPr lang="en-US" b="0" i="1" smtClean="0">
                        <a:latin typeface="Cambria Math" panose="02040503050406030204" pitchFamily="18" charset="0"/>
                      </a:rPr>
                      <m:t>𝑉</m:t>
                    </m:r>
                    <m:r>
                      <a:rPr lang="en-US" b="0" i="1" smtClean="0">
                        <a:latin typeface="Cambria Math" panose="02040503050406030204" pitchFamily="18" charset="0"/>
                      </a:rPr>
                      <m:t>⟩</m:t>
                    </m:r>
                  </m:oMath>
                </a14:m>
                <a:r>
                  <a:rPr lang="en-US" dirty="0"/>
                  <a:t>) and secondly in one of the CNOT bases (sending either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𝑅</m:t>
                    </m:r>
                    <m:r>
                      <a:rPr lang="en-US" b="0" i="1" smtClean="0">
                        <a:latin typeface="Cambria Math" panose="02040503050406030204" pitchFamily="18" charset="0"/>
                      </a:rPr>
                      <m:t>/</m:t>
                    </m:r>
                    <m:r>
                      <a:rPr lang="en-US" b="0" i="1" smtClean="0">
                        <a:latin typeface="Cambria Math" panose="02040503050406030204" pitchFamily="18" charset="0"/>
                      </a:rPr>
                      <m:t>𝐿</m:t>
                    </m:r>
                    <m:r>
                      <a:rPr lang="en-US" b="0" i="1" smtClean="0">
                        <a:latin typeface="Cambria Math" panose="02040503050406030204" pitchFamily="18" charset="0"/>
                      </a:rPr>
                      <m:t>⟩</m:t>
                    </m:r>
                  </m:oMath>
                </a14:m>
                <a:r>
                  <a:rPr lang="en-US" dirty="0"/>
                  <a:t> or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𝐴</m:t>
                    </m:r>
                    <m:r>
                      <a:rPr lang="en-US" b="0" i="1" smtClean="0">
                        <a:latin typeface="Cambria Math" panose="02040503050406030204" pitchFamily="18" charset="0"/>
                      </a:rPr>
                      <m:t>/</m:t>
                    </m:r>
                    <m:r>
                      <a:rPr lang="en-US" b="0" i="1" smtClean="0">
                        <a:latin typeface="Cambria Math" panose="02040503050406030204" pitchFamily="18" charset="0"/>
                      </a:rPr>
                      <m:t>𝐷</m:t>
                    </m:r>
                    <m:r>
                      <a:rPr lang="en-US" b="0" i="1" smtClean="0">
                        <a:latin typeface="Cambria Math" panose="02040503050406030204" pitchFamily="18" charset="0"/>
                      </a:rPr>
                      <m:t>⟩</m:t>
                    </m:r>
                  </m:oMath>
                </a14:m>
                <a:r>
                  <a:rPr lang="en-US" dirty="0"/>
                  <a:t>)</a:t>
                </a:r>
                <a:endParaRPr lang="LID4096" dirty="0"/>
              </a:p>
            </p:txBody>
          </p:sp>
        </mc:Choice>
        <mc:Fallback xmlns="">
          <p:sp>
            <p:nvSpPr>
              <p:cNvPr id="2822" name="TextBox 2821">
                <a:extLst>
                  <a:ext uri="{FF2B5EF4-FFF2-40B4-BE49-F238E27FC236}">
                    <a16:creationId xmlns:a16="http://schemas.microsoft.com/office/drawing/2014/main" id="{44EBD47A-41D7-23FD-394F-C2CE4F3CA001}"/>
                  </a:ext>
                </a:extLst>
              </p:cNvPr>
              <p:cNvSpPr txBox="1">
                <a:spLocks noRot="1" noChangeAspect="1" noMove="1" noResize="1" noEditPoints="1" noAdjustHandles="1" noChangeArrowheads="1" noChangeShapeType="1" noTextEdit="1"/>
              </p:cNvSpPr>
              <p:nvPr/>
            </p:nvSpPr>
            <p:spPr>
              <a:xfrm>
                <a:off x="6994670" y="26049304"/>
                <a:ext cx="6764184" cy="1200329"/>
              </a:xfrm>
              <a:prstGeom prst="rect">
                <a:avLst/>
              </a:prstGeom>
              <a:blipFill>
                <a:blip r:embed="rId56"/>
                <a:stretch>
                  <a:fillRect l="-721" t="-2538" b="-7107"/>
                </a:stretch>
              </a:blipFill>
            </p:spPr>
            <p:txBody>
              <a:bodyPr/>
              <a:lstStyle/>
              <a:p>
                <a:r>
                  <a:rPr lang="LID4096">
                    <a:noFill/>
                  </a:rPr>
                  <a:t> </a:t>
                </a:r>
              </a:p>
            </p:txBody>
          </p:sp>
        </mc:Fallback>
      </mc:AlternateContent>
      <p:pic>
        <p:nvPicPr>
          <p:cNvPr id="2827" name="Graphic 2826">
            <a:extLst>
              <a:ext uri="{FF2B5EF4-FFF2-40B4-BE49-F238E27FC236}">
                <a16:creationId xmlns:a16="http://schemas.microsoft.com/office/drawing/2014/main" id="{98B2DE1B-4DEE-F231-8D82-57663B423A8A}"/>
              </a:ext>
            </a:extLst>
          </p:cNvPr>
          <p:cNvPicPr>
            <a:picLocks noChangeAspect="1"/>
          </p:cNvPicPr>
          <p:nvPr/>
        </p:nvPicPr>
        <p:blipFill>
          <a:blip r:embed="rId57">
            <a:extLst>
              <a:ext uri="{96DAC541-7B7A-43D3-8B79-37D633B846F1}">
                <asvg:svgBlip xmlns:asvg="http://schemas.microsoft.com/office/drawing/2016/SVG/main" r:embed="rId58"/>
              </a:ext>
            </a:extLst>
          </a:blip>
          <a:srcRect t="10041" r="5660"/>
          <a:stretch/>
        </p:blipFill>
        <p:spPr>
          <a:xfrm>
            <a:off x="22031418" y="26992315"/>
            <a:ext cx="6873300" cy="4920899"/>
          </a:xfrm>
          <a:prstGeom prst="rect">
            <a:avLst/>
          </a:prstGeom>
        </p:spPr>
      </p:pic>
      <p:pic>
        <p:nvPicPr>
          <p:cNvPr id="2829" name="Graphic 2828">
            <a:extLst>
              <a:ext uri="{FF2B5EF4-FFF2-40B4-BE49-F238E27FC236}">
                <a16:creationId xmlns:a16="http://schemas.microsoft.com/office/drawing/2014/main" id="{EF6A4F04-5D75-5C4D-7CC8-6EAAF8AE8C8B}"/>
              </a:ext>
            </a:extLst>
          </p:cNvPr>
          <p:cNvPicPr>
            <a:picLocks noChangeAspect="1"/>
          </p:cNvPicPr>
          <p:nvPr/>
        </p:nvPicPr>
        <p:blipFill>
          <a:blip r:embed="rId59">
            <a:extLst>
              <a:ext uri="{96DAC541-7B7A-43D3-8B79-37D633B846F1}">
                <asvg:svgBlip xmlns:asvg="http://schemas.microsoft.com/office/drawing/2016/SVG/main" r:embed="rId60"/>
              </a:ext>
            </a:extLst>
          </a:blip>
          <a:srcRect t="11737"/>
          <a:stretch/>
        </p:blipFill>
        <p:spPr>
          <a:xfrm>
            <a:off x="15109625" y="27080736"/>
            <a:ext cx="7107131" cy="4803148"/>
          </a:xfrm>
          <a:prstGeom prst="rect">
            <a:avLst/>
          </a:prstGeom>
        </p:spPr>
      </p:pic>
      <mc:AlternateContent xmlns:mc="http://schemas.openxmlformats.org/markup-compatibility/2006" xmlns:a14="http://schemas.microsoft.com/office/drawing/2010/main">
        <mc:Choice Requires="a14">
          <p:sp>
            <p:nvSpPr>
              <p:cNvPr id="2830" name="TextBox 2829">
                <a:extLst>
                  <a:ext uri="{FF2B5EF4-FFF2-40B4-BE49-F238E27FC236}">
                    <a16:creationId xmlns:a16="http://schemas.microsoft.com/office/drawing/2014/main" id="{A8CF6228-2143-9BD0-9311-32F3636FB97E}"/>
                  </a:ext>
                </a:extLst>
              </p:cNvPr>
              <p:cNvSpPr txBox="1"/>
              <p:nvPr/>
            </p:nvSpPr>
            <p:spPr>
              <a:xfrm>
                <a:off x="15221436" y="25355550"/>
                <a:ext cx="13994829" cy="1200329"/>
              </a:xfrm>
              <a:prstGeom prst="rect">
                <a:avLst/>
              </a:prstGeom>
              <a:noFill/>
            </p:spPr>
            <p:txBody>
              <a:bodyPr wrap="square" rtlCol="0">
                <a:spAutoFit/>
              </a:bodyPr>
              <a:lstStyle/>
              <a:p>
                <a:r>
                  <a:rPr lang="en-US" dirty="0"/>
                  <a:t>To identify the optimal operating regime for our gate, we model the gate fidelity at different mean input photon numbers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𝑛</m:t>
                        </m:r>
                      </m:e>
                    </m:acc>
                  </m:oMath>
                </a14:m>
                <a:r>
                  <a:rPr lang="en-US" dirty="0"/>
                  <a:t>. The motivation behind this, is that at very high and very low photon numbers certain sources lead to infidelity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𝑛</m:t>
                        </m:r>
                      </m:e>
                    </m:acc>
                    <m:r>
                      <a:rPr lang="en-US" b="0" i="1" dirty="0" smtClean="0">
                        <a:latin typeface="Cambria Math" panose="02040503050406030204" pitchFamily="18" charset="0"/>
                      </a:rPr>
                      <m:t>≪1</m:t>
                    </m:r>
                  </m:oMath>
                </a14:m>
                <a:r>
                  <a:rPr lang="en-US" b="0" dirty="0"/>
                  <a:t>: detector dark counts;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𝑛</m:t>
                        </m:r>
                      </m:e>
                    </m:acc>
                    <m:r>
                      <a:rPr lang="en-US" b="0" i="1" dirty="0" smtClean="0">
                        <a:latin typeface="Cambria Math" panose="02040503050406030204" pitchFamily="18" charset="0"/>
                      </a:rPr>
                      <m:t>≫1</m:t>
                    </m:r>
                  </m:oMath>
                </a14:m>
                <a:r>
                  <a:rPr lang="en-US" b="0" dirty="0"/>
                  <a:t>: increased atomic scattering and multi-photon contributions). Thus finding the ideal pulse intensity allows us to keep these infidelities at bay, while ensuring a high enough rate of our gate.</a:t>
                </a:r>
              </a:p>
            </p:txBody>
          </p:sp>
        </mc:Choice>
        <mc:Fallback xmlns="">
          <p:sp>
            <p:nvSpPr>
              <p:cNvPr id="2830" name="TextBox 2829">
                <a:extLst>
                  <a:ext uri="{FF2B5EF4-FFF2-40B4-BE49-F238E27FC236}">
                    <a16:creationId xmlns:a16="http://schemas.microsoft.com/office/drawing/2014/main" id="{A8CF6228-2143-9BD0-9311-32F3636FB97E}"/>
                  </a:ext>
                </a:extLst>
              </p:cNvPr>
              <p:cNvSpPr txBox="1">
                <a:spLocks noRot="1" noChangeAspect="1" noMove="1" noResize="1" noEditPoints="1" noAdjustHandles="1" noChangeArrowheads="1" noChangeShapeType="1" noTextEdit="1"/>
              </p:cNvSpPr>
              <p:nvPr/>
            </p:nvSpPr>
            <p:spPr>
              <a:xfrm>
                <a:off x="15221436" y="25355550"/>
                <a:ext cx="13994829" cy="1200329"/>
              </a:xfrm>
              <a:prstGeom prst="rect">
                <a:avLst/>
              </a:prstGeom>
              <a:blipFill>
                <a:blip r:embed="rId63"/>
                <a:stretch>
                  <a:fillRect l="-392" t="-2538" b="-7107"/>
                </a:stretch>
              </a:blipFill>
            </p:spPr>
            <p:txBody>
              <a:bodyPr/>
              <a:lstStyle/>
              <a:p>
                <a:r>
                  <a:rPr lang="LID4096">
                    <a:noFill/>
                  </a:rPr>
                  <a:t> </a:t>
                </a:r>
              </a:p>
            </p:txBody>
          </p:sp>
        </mc:Fallback>
      </mc:AlternateContent>
      <p:sp>
        <p:nvSpPr>
          <p:cNvPr id="2832" name="TextBox 2831">
            <a:extLst>
              <a:ext uri="{FF2B5EF4-FFF2-40B4-BE49-F238E27FC236}">
                <a16:creationId xmlns:a16="http://schemas.microsoft.com/office/drawing/2014/main" id="{00DA7099-BB53-7E2B-DC6E-4E01C8F30648}"/>
              </a:ext>
            </a:extLst>
          </p:cNvPr>
          <p:cNvSpPr txBox="1"/>
          <p:nvPr/>
        </p:nvSpPr>
        <p:spPr>
          <a:xfrm>
            <a:off x="15376538" y="15468563"/>
            <a:ext cx="5670601" cy="646331"/>
          </a:xfrm>
          <a:prstGeom prst="rect">
            <a:avLst/>
          </a:prstGeom>
          <a:noFill/>
        </p:spPr>
        <p:txBody>
          <a:bodyPr wrap="square" rtlCol="0">
            <a:spAutoFit/>
          </a:bodyPr>
          <a:lstStyle/>
          <a:p>
            <a:r>
              <a:rPr lang="en-US" dirty="0"/>
              <a:t>Determining of cavity field decay rate and outcoupling efficiency, as well as mode matching parameters</a:t>
            </a:r>
            <a:endParaRPr lang="LID4096" dirty="0"/>
          </a:p>
        </p:txBody>
      </p:sp>
      <p:pic>
        <p:nvPicPr>
          <p:cNvPr id="3283" name="Picture 3282" descr="A graph of a function&#10;&#10;AI-generated content may be incorrect.">
            <a:extLst>
              <a:ext uri="{FF2B5EF4-FFF2-40B4-BE49-F238E27FC236}">
                <a16:creationId xmlns:a16="http://schemas.microsoft.com/office/drawing/2014/main" id="{2F6EC4EF-4A37-63D5-24EA-C12F16C3EA94}"/>
              </a:ext>
            </a:extLst>
          </p:cNvPr>
          <p:cNvPicPr>
            <a:picLocks noChangeAspect="1"/>
          </p:cNvPicPr>
          <p:nvPr/>
        </p:nvPicPr>
        <p:blipFill>
          <a:blip r:embed="rId64"/>
          <a:srcRect t="8183"/>
          <a:stretch/>
        </p:blipFill>
        <p:spPr>
          <a:xfrm>
            <a:off x="15437930" y="16121183"/>
            <a:ext cx="5310409" cy="3263917"/>
          </a:xfrm>
          <a:prstGeom prst="rect">
            <a:avLst/>
          </a:prstGeom>
        </p:spPr>
      </p:pic>
      <p:pic>
        <p:nvPicPr>
          <p:cNvPr id="9" name="Graphic 8">
            <a:extLst>
              <a:ext uri="{FF2B5EF4-FFF2-40B4-BE49-F238E27FC236}">
                <a16:creationId xmlns:a16="http://schemas.microsoft.com/office/drawing/2014/main" id="{8C35DDD7-0DBB-5E6E-3E96-3DAB6C05020A}"/>
              </a:ext>
            </a:extLst>
          </p:cNvPr>
          <p:cNvPicPr>
            <a:picLocks noChangeAspect="1"/>
          </p:cNvPicPr>
          <p:nvPr/>
        </p:nvPicPr>
        <p:blipFill>
          <a:blip r:embed="rId65">
            <a:extLst>
              <a:ext uri="{96DAC541-7B7A-43D3-8B79-37D633B846F1}">
                <asvg:svgBlip xmlns:asvg="http://schemas.microsoft.com/office/drawing/2016/SVG/main" r:embed="rId66"/>
              </a:ext>
            </a:extLst>
          </a:blip>
          <a:stretch>
            <a:fillRect/>
          </a:stretch>
        </p:blipFill>
        <p:spPr>
          <a:xfrm>
            <a:off x="5640900" y="27470943"/>
            <a:ext cx="4313509" cy="4442271"/>
          </a:xfrm>
          <a:prstGeom prst="rect">
            <a:avLst/>
          </a:prstGeom>
        </p:spPr>
      </p:pic>
      <p:pic>
        <p:nvPicPr>
          <p:cNvPr id="12" name="Graphic 11">
            <a:extLst>
              <a:ext uri="{FF2B5EF4-FFF2-40B4-BE49-F238E27FC236}">
                <a16:creationId xmlns:a16="http://schemas.microsoft.com/office/drawing/2014/main" id="{C8883034-14CC-D703-ED56-D2FA0D16872A}"/>
              </a:ext>
            </a:extLst>
          </p:cNvPr>
          <p:cNvPicPr>
            <a:picLocks noChangeAspect="1"/>
          </p:cNvPicPr>
          <p:nvPr/>
        </p:nvPicPr>
        <p:blipFill>
          <a:blip r:embed="rId67">
            <a:extLst>
              <a:ext uri="{96DAC541-7B7A-43D3-8B79-37D633B846F1}">
                <asvg:svgBlip xmlns:asvg="http://schemas.microsoft.com/office/drawing/2016/SVG/main" r:embed="rId68"/>
              </a:ext>
            </a:extLst>
          </a:blip>
          <a:stretch>
            <a:fillRect/>
          </a:stretch>
        </p:blipFill>
        <p:spPr>
          <a:xfrm>
            <a:off x="9835086" y="27460765"/>
            <a:ext cx="4086225" cy="4591050"/>
          </a:xfrm>
          <a:prstGeom prst="rect">
            <a:avLst/>
          </a:prstGeom>
        </p:spPr>
      </p:pic>
    </p:spTree>
    <p:extLst>
      <p:ext uri="{BB962C8B-B14F-4D97-AF65-F5344CB8AC3E}">
        <p14:creationId xmlns:p14="http://schemas.microsoft.com/office/powerpoint/2010/main" val="1047945130"/>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653</TotalTime>
  <Words>829</Words>
  <Application>Microsoft Office PowerPoint</Application>
  <PresentationFormat>Custom</PresentationFormat>
  <Paragraphs>77</Paragraphs>
  <Slides>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vt:i4>
      </vt:variant>
    </vt:vector>
  </HeadingPairs>
  <TitlesOfParts>
    <vt:vector size="9" baseType="lpstr">
      <vt:lpstr>Wingdings</vt:lpstr>
      <vt:lpstr>Cambria Math</vt:lpstr>
      <vt:lpstr>Calibri Light</vt:lpstr>
      <vt:lpstr>Roboto</vt:lpstr>
      <vt:lpstr>Arial</vt:lpstr>
      <vt:lpstr>Roboto Light</vt:lpstr>
      <vt:lpstr>Calibri</vt:lpstr>
      <vt:lpstr>Office</vt:lpstr>
      <vt:lpstr>Atom-Photon Quantum Gate using an Atomic Clock Qubit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subject/>
  <dc:creator>Amelie Putzar</dc:creator>
  <cp:keywords/>
  <dc:description/>
  <cp:lastModifiedBy>SuperUser</cp:lastModifiedBy>
  <cp:revision>200</cp:revision>
  <dcterms:created xsi:type="dcterms:W3CDTF">2022-09-05T19:47:05Z</dcterms:created>
  <dcterms:modified xsi:type="dcterms:W3CDTF">2026-02-27T20:30:40Z</dcterms:modified>
  <cp:category/>
</cp:coreProperties>
</file>